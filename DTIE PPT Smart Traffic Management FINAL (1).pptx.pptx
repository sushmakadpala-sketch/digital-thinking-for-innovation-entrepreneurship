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League Spartan" charset="1" panose="00000800000000000000"/>
      <p:regular r:id="rId21"/>
    </p:embeddedFont>
    <p:embeddedFont>
      <p:font typeface="DM Sans" charset="1" panose="00000000000000000000"/>
      <p:regular r:id="rId22"/>
    </p:embeddedFont>
    <p:embeddedFont>
      <p:font typeface="Canva Sans Bold" charset="1" panose="020B0803030501040103"/>
      <p:regular r:id="rId23"/>
    </p:embeddedFont>
    <p:embeddedFont>
      <p:font typeface="DM Sans Bold" charset="1" panose="00000000000000000000"/>
      <p:regular r:id="rId24"/>
    </p:embeddedFont>
    <p:embeddedFont>
      <p:font typeface="Poppins Bold" charset="1" panose="00000800000000000000"/>
      <p:regular r:id="rId25"/>
    </p:embeddedFont>
    <p:embeddedFont>
      <p:font typeface="Garet Bold" charset="1" panose="00000000000000000000"/>
      <p:regular r:id="rId26"/>
    </p:embeddedFont>
    <p:embeddedFont>
      <p:font typeface="Lora Bold" charset="1" panose="00000800000000000000"/>
      <p:regular r:id="rId27"/>
    </p:embeddedFont>
    <p:embeddedFont>
      <p:font typeface="DM Sans Italics" charset="1" panose="00000000000000000000"/>
      <p:regular r:id="rId28"/>
    </p:embeddedFont>
    <p:embeddedFont>
      <p:font typeface="Open Sauce Bold" charset="1" panose="00000800000000000000"/>
      <p:regular r:id="rId29"/>
    </p:embeddedFont>
    <p:embeddedFont>
      <p:font typeface="Arimo Bold" charset="1" panose="020B0704020202020204"/>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 Id="rId3"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1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6.png" Type="http://schemas.openxmlformats.org/officeDocument/2006/relationships/image"/><Relationship Id="rId3" Target="../media/image17.svg" Type="http://schemas.openxmlformats.org/officeDocument/2006/relationships/image"/><Relationship Id="rId4" Target="../media/image18.png" Type="http://schemas.openxmlformats.org/officeDocument/2006/relationships/image"/><Relationship Id="rId5" Target="../media/image19.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png" Type="http://schemas.openxmlformats.org/officeDocument/2006/relationships/image"/><Relationship Id="rId3" Target="../media/image21.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 Id="rId3" Target="../media/image26.svg" Type="http://schemas.openxmlformats.org/officeDocument/2006/relationships/image"/><Relationship Id="rId4" Target="../media/image27.png" Type="http://schemas.openxmlformats.org/officeDocument/2006/relationships/image"/><Relationship Id="rId5" Target="../media/image2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 Id="rId3" Target="../media/image30.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4.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1.png" Type="http://schemas.openxmlformats.org/officeDocument/2006/relationships/image"/><Relationship Id="rId3" Target="../media/image3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3.png" Type="http://schemas.openxmlformats.org/officeDocument/2006/relationships/image"/><Relationship Id="rId3" Target="../media/image34.svg" Type="http://schemas.openxmlformats.org/officeDocument/2006/relationships/image"/><Relationship Id="rId4" Target="../media/image35.png" Type="http://schemas.openxmlformats.org/officeDocument/2006/relationships/image"/><Relationship Id="rId5" Target="../media/image3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38.svg" Type="http://schemas.openxmlformats.org/officeDocument/2006/relationships/image"/><Relationship Id="rId4" Target="../media/image39.png" Type="http://schemas.openxmlformats.org/officeDocument/2006/relationships/image"/><Relationship Id="rId5" Target="../media/image4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1.png" Type="http://schemas.openxmlformats.org/officeDocument/2006/relationships/image"/><Relationship Id="rId3" Target="../media/image42.svg" Type="http://schemas.openxmlformats.org/officeDocument/2006/relationships/image"/><Relationship Id="rId4" Target="../media/image43.png" Type="http://schemas.openxmlformats.org/officeDocument/2006/relationships/image"/><Relationship Id="rId5" Target="../media/image44.svg" Type="http://schemas.openxmlformats.org/officeDocument/2006/relationships/image"/><Relationship Id="rId6" Target="../media/image45.png" Type="http://schemas.openxmlformats.org/officeDocument/2006/relationships/image"/><Relationship Id="rId7" Target="../media/image4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grpSp>
        <p:nvGrpSpPr>
          <p:cNvPr name="Group 2" id="2"/>
          <p:cNvGrpSpPr/>
          <p:nvPr/>
        </p:nvGrpSpPr>
        <p:grpSpPr>
          <a:xfrm rot="0">
            <a:off x="7524750" y="0"/>
            <a:ext cx="10763250" cy="10287000"/>
            <a:chOff x="0" y="0"/>
            <a:chExt cx="14351000" cy="13716000"/>
          </a:xfrm>
        </p:grpSpPr>
        <p:sp>
          <p:nvSpPr>
            <p:cNvPr name="Freeform 3" id="3"/>
            <p:cNvSpPr/>
            <p:nvPr/>
          </p:nvSpPr>
          <p:spPr>
            <a:xfrm flipH="false" flipV="false" rot="0">
              <a:off x="0" y="0"/>
              <a:ext cx="14351000" cy="13716000"/>
            </a:xfrm>
            <a:custGeom>
              <a:avLst/>
              <a:gdLst/>
              <a:ahLst/>
              <a:cxnLst/>
              <a:rect r="r" b="b" t="t" l="l"/>
              <a:pathLst>
                <a:path h="13716000" w="14351000">
                  <a:moveTo>
                    <a:pt x="0" y="0"/>
                  </a:moveTo>
                  <a:lnTo>
                    <a:pt x="14351000" y="0"/>
                  </a:lnTo>
                  <a:lnTo>
                    <a:pt x="14351000" y="13716000"/>
                  </a:lnTo>
                  <a:lnTo>
                    <a:pt x="0" y="13716000"/>
                  </a:lnTo>
                  <a:lnTo>
                    <a:pt x="0" y="0"/>
                  </a:lnTo>
                  <a:close/>
                </a:path>
              </a:pathLst>
            </a:custGeom>
            <a:blipFill>
              <a:blip r:embed="rId2"/>
              <a:stretch>
                <a:fillRect l="0" t="-15" r="0" b="-15"/>
              </a:stretch>
            </a:blipFill>
          </p:spPr>
        </p:sp>
      </p:grpSp>
      <p:sp>
        <p:nvSpPr>
          <p:cNvPr name="Freeform 4" id="4"/>
          <p:cNvSpPr/>
          <p:nvPr/>
        </p:nvSpPr>
        <p:spPr>
          <a:xfrm flipH="false" flipV="false" rot="0">
            <a:off x="6191250" y="-28575"/>
            <a:ext cx="6191250" cy="10315575"/>
          </a:xfrm>
          <a:custGeom>
            <a:avLst/>
            <a:gdLst/>
            <a:ahLst/>
            <a:cxnLst/>
            <a:rect r="r" b="b" t="t" l="l"/>
            <a:pathLst>
              <a:path h="10315575" w="6191250">
                <a:moveTo>
                  <a:pt x="0" y="0"/>
                </a:moveTo>
                <a:lnTo>
                  <a:pt x="6191250" y="0"/>
                </a:lnTo>
                <a:lnTo>
                  <a:pt x="6191250" y="10315575"/>
                </a:lnTo>
                <a:lnTo>
                  <a:pt x="0" y="103155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047750" y="1095375"/>
            <a:ext cx="1047750" cy="104775"/>
          </a:xfrm>
          <a:custGeom>
            <a:avLst/>
            <a:gdLst/>
            <a:ahLst/>
            <a:cxnLst/>
            <a:rect r="r" b="b" t="t" l="l"/>
            <a:pathLst>
              <a:path h="104775" w="1047750">
                <a:moveTo>
                  <a:pt x="0" y="0"/>
                </a:moveTo>
                <a:lnTo>
                  <a:pt x="1047750" y="0"/>
                </a:lnTo>
                <a:lnTo>
                  <a:pt x="1047750" y="104775"/>
                </a:lnTo>
                <a:lnTo>
                  <a:pt x="0" y="10477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1047750" y="1828800"/>
            <a:ext cx="10024196" cy="1532953"/>
          </a:xfrm>
          <a:prstGeom prst="rect">
            <a:avLst/>
          </a:prstGeom>
        </p:spPr>
        <p:txBody>
          <a:bodyPr anchor="t" rtlCol="false" tIns="0" lIns="0" bIns="0" rIns="0">
            <a:spAutoFit/>
          </a:bodyPr>
          <a:lstStyle/>
          <a:p>
            <a:pPr algn="l">
              <a:lnSpc>
                <a:spcPts val="6349"/>
              </a:lnSpc>
            </a:pPr>
            <a:r>
              <a:rPr lang="en-US" sz="6225" b="true">
                <a:solidFill>
                  <a:srgbClr val="FFFFFF"/>
                </a:solidFill>
                <a:latin typeface="League Spartan"/>
                <a:ea typeface="League Spartan"/>
                <a:cs typeface="League Spartan"/>
                <a:sym typeface="League Spartan"/>
              </a:rPr>
              <a:t>SMART TRAFFIC</a:t>
            </a:r>
          </a:p>
          <a:p>
            <a:pPr algn="l">
              <a:lnSpc>
                <a:spcPts val="6349"/>
              </a:lnSpc>
            </a:pPr>
            <a:r>
              <a:rPr lang="en-US" sz="6225" b="true">
                <a:solidFill>
                  <a:srgbClr val="FFFFFF"/>
                </a:solidFill>
                <a:latin typeface="League Spartan"/>
                <a:ea typeface="League Spartan"/>
                <a:cs typeface="League Spartan"/>
                <a:sym typeface="League Spartan"/>
              </a:rPr>
              <a:t>MANAGEMENT SYSTEM</a:t>
            </a:r>
          </a:p>
        </p:txBody>
      </p:sp>
      <p:sp>
        <p:nvSpPr>
          <p:cNvPr name="TextBox 7" id="7"/>
          <p:cNvSpPr txBox="true"/>
          <p:nvPr/>
        </p:nvSpPr>
        <p:spPr>
          <a:xfrm rot="0">
            <a:off x="1047750" y="3704654"/>
            <a:ext cx="6762750" cy="867727"/>
          </a:xfrm>
          <a:prstGeom prst="rect">
            <a:avLst/>
          </a:prstGeom>
        </p:spPr>
        <p:txBody>
          <a:bodyPr anchor="t" rtlCol="false" tIns="0" lIns="0" bIns="0" rIns="0">
            <a:spAutoFit/>
          </a:bodyPr>
          <a:lstStyle/>
          <a:p>
            <a:pPr algn="l">
              <a:lnSpc>
                <a:spcPts val="3307"/>
              </a:lnSpc>
            </a:pPr>
            <a:r>
              <a:rPr lang="en-US" sz="2448">
                <a:solidFill>
                  <a:srgbClr val="FFFFFF"/>
                </a:solidFill>
                <a:latin typeface="DM Sans"/>
                <a:ea typeface="DM Sans"/>
                <a:cs typeface="DM Sans"/>
                <a:sym typeface="DM Sans"/>
              </a:rPr>
              <a:t>DESIGN THINKING FOR INNOVATION AND ENTREPRENEURSHIP (DTIE)</a:t>
            </a:r>
          </a:p>
        </p:txBody>
      </p:sp>
      <p:sp>
        <p:nvSpPr>
          <p:cNvPr name="Freeform 8" id="8"/>
          <p:cNvSpPr/>
          <p:nvPr/>
        </p:nvSpPr>
        <p:spPr>
          <a:xfrm flipH="false" flipV="false" rot="0">
            <a:off x="872547" y="5484104"/>
            <a:ext cx="8414328" cy="3573685"/>
          </a:xfrm>
          <a:custGeom>
            <a:avLst/>
            <a:gdLst/>
            <a:ahLst/>
            <a:cxnLst/>
            <a:rect r="r" b="b" t="t" l="l"/>
            <a:pathLst>
              <a:path h="3573685" w="8414328">
                <a:moveTo>
                  <a:pt x="0" y="0"/>
                </a:moveTo>
                <a:lnTo>
                  <a:pt x="8414328" y="0"/>
                </a:lnTo>
                <a:lnTo>
                  <a:pt x="8414328" y="3573685"/>
                </a:lnTo>
                <a:lnTo>
                  <a:pt x="0" y="357368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9" id="9"/>
          <p:cNvSpPr txBox="true"/>
          <p:nvPr/>
        </p:nvSpPr>
        <p:spPr>
          <a:xfrm rot="0">
            <a:off x="537458" y="5552475"/>
            <a:ext cx="9084516" cy="3705825"/>
          </a:xfrm>
          <a:prstGeom prst="rect">
            <a:avLst/>
          </a:prstGeom>
        </p:spPr>
        <p:txBody>
          <a:bodyPr anchor="t" rtlCol="false" tIns="0" lIns="0" bIns="0" rIns="0">
            <a:spAutoFit/>
          </a:bodyPr>
          <a:lstStyle/>
          <a:p>
            <a:pPr algn="ctr">
              <a:lnSpc>
                <a:spcPts val="4166"/>
              </a:lnSpc>
            </a:pPr>
            <a:r>
              <a:rPr lang="en-US" sz="2976" b="true">
                <a:solidFill>
                  <a:srgbClr val="000000"/>
                </a:solidFill>
                <a:latin typeface="Canva Sans Bold"/>
                <a:ea typeface="Canva Sans Bold"/>
                <a:cs typeface="Canva Sans Bold"/>
                <a:sym typeface="Canva Sans Bold"/>
              </a:rPr>
              <a:t>TEAM MEMBERS: Samhita 2620090087 · </a:t>
            </a:r>
          </a:p>
          <a:p>
            <a:pPr algn="ctr">
              <a:lnSpc>
                <a:spcPts val="4166"/>
              </a:lnSpc>
            </a:pPr>
            <a:r>
              <a:rPr lang="en-US" sz="2976" b="true">
                <a:solidFill>
                  <a:srgbClr val="000000"/>
                </a:solidFill>
                <a:latin typeface="Canva Sans Bold"/>
                <a:ea typeface="Canva Sans Bold"/>
                <a:cs typeface="Canva Sans Bold"/>
                <a:sym typeface="Canva Sans Bold"/>
              </a:rPr>
              <a:t>Neeharika - 2620030332</a:t>
            </a:r>
          </a:p>
          <a:p>
            <a:pPr algn="ctr">
              <a:lnSpc>
                <a:spcPts val="4166"/>
              </a:lnSpc>
            </a:pPr>
            <a:r>
              <a:rPr lang="en-US" sz="2976" b="true">
                <a:solidFill>
                  <a:srgbClr val="000000"/>
                </a:solidFill>
                <a:latin typeface="Canva Sans Bold"/>
                <a:ea typeface="Canva Sans Bold"/>
                <a:cs typeface="Canva Sans Bold"/>
                <a:sym typeface="Canva Sans Bold"/>
              </a:rPr>
              <a:t>Abhinaya - 2620030615 · </a:t>
            </a:r>
          </a:p>
          <a:p>
            <a:pPr algn="ctr">
              <a:lnSpc>
                <a:spcPts val="4166"/>
              </a:lnSpc>
            </a:pPr>
            <a:r>
              <a:rPr lang="en-US" sz="2976" b="true">
                <a:solidFill>
                  <a:srgbClr val="000000"/>
                </a:solidFill>
                <a:latin typeface="Canva Sans Bold"/>
                <a:ea typeface="Canva Sans Bold"/>
                <a:cs typeface="Canva Sans Bold"/>
                <a:sym typeface="Canva Sans Bold"/>
              </a:rPr>
              <a:t>Sudiksha - 2620030036</a:t>
            </a:r>
          </a:p>
          <a:p>
            <a:pPr algn="ctr">
              <a:lnSpc>
                <a:spcPts val="4166"/>
              </a:lnSpc>
            </a:pPr>
            <a:r>
              <a:rPr lang="en-US" sz="2976" b="true">
                <a:solidFill>
                  <a:srgbClr val="000000"/>
                </a:solidFill>
                <a:latin typeface="Canva Sans Bold"/>
                <a:ea typeface="Canva Sans Bold"/>
                <a:cs typeface="Canva Sans Bold"/>
                <a:sym typeface="Canva Sans Bold"/>
              </a:rPr>
              <a:t>Sushma - 2620030374 · </a:t>
            </a:r>
          </a:p>
          <a:p>
            <a:pPr algn="ctr">
              <a:lnSpc>
                <a:spcPts val="4166"/>
              </a:lnSpc>
            </a:pPr>
            <a:r>
              <a:rPr lang="en-US" sz="2976" b="true">
                <a:solidFill>
                  <a:srgbClr val="000000"/>
                </a:solidFill>
                <a:latin typeface="Canva Sans Bold"/>
                <a:ea typeface="Canva Sans Bold"/>
                <a:cs typeface="Canva Sans Bold"/>
                <a:sym typeface="Canva Sans Bold"/>
              </a:rPr>
              <a:t>Ridhi - 2620030032</a:t>
            </a:r>
          </a:p>
          <a:p>
            <a:pPr algn="ctr">
              <a:lnSpc>
                <a:spcPts val="4166"/>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Freeform 2" id="2"/>
          <p:cNvSpPr/>
          <p:nvPr/>
        </p:nvSpPr>
        <p:spPr>
          <a:xfrm flipH="false" flipV="false" rot="0">
            <a:off x="1217849" y="0"/>
            <a:ext cx="6891850" cy="10287000"/>
          </a:xfrm>
          <a:custGeom>
            <a:avLst/>
            <a:gdLst/>
            <a:ahLst/>
            <a:cxnLst/>
            <a:rect r="r" b="b" t="t" l="l"/>
            <a:pathLst>
              <a:path h="10287000" w="6891850">
                <a:moveTo>
                  <a:pt x="0" y="0"/>
                </a:moveTo>
                <a:lnTo>
                  <a:pt x="6891850" y="0"/>
                </a:lnTo>
                <a:lnTo>
                  <a:pt x="6891850" y="10287000"/>
                </a:lnTo>
                <a:lnTo>
                  <a:pt x="0" y="10287000"/>
                </a:lnTo>
                <a:lnTo>
                  <a:pt x="0" y="0"/>
                </a:lnTo>
                <a:close/>
              </a:path>
            </a:pathLst>
          </a:custGeom>
          <a:blipFill>
            <a:blip r:embed="rId2"/>
            <a:stretch>
              <a:fillRect l="0" t="-266" r="0" b="-266"/>
            </a:stretch>
          </a:blipFill>
        </p:spPr>
      </p:sp>
      <p:sp>
        <p:nvSpPr>
          <p:cNvPr name="Freeform 3" id="3"/>
          <p:cNvSpPr/>
          <p:nvPr/>
        </p:nvSpPr>
        <p:spPr>
          <a:xfrm flipH="false" flipV="false" rot="0">
            <a:off x="9144000" y="0"/>
            <a:ext cx="7760774" cy="10287000"/>
          </a:xfrm>
          <a:custGeom>
            <a:avLst/>
            <a:gdLst/>
            <a:ahLst/>
            <a:cxnLst/>
            <a:rect r="r" b="b" t="t" l="l"/>
            <a:pathLst>
              <a:path h="10287000" w="7760774">
                <a:moveTo>
                  <a:pt x="0" y="0"/>
                </a:moveTo>
                <a:lnTo>
                  <a:pt x="7760774" y="0"/>
                </a:lnTo>
                <a:lnTo>
                  <a:pt x="7760774" y="10287000"/>
                </a:lnTo>
                <a:lnTo>
                  <a:pt x="0" y="10287000"/>
                </a:lnTo>
                <a:lnTo>
                  <a:pt x="0" y="0"/>
                </a:lnTo>
                <a:close/>
              </a:path>
            </a:pathLst>
          </a:custGeom>
          <a:blipFill>
            <a:blip r:embed="rId3"/>
            <a:stretch>
              <a:fillRect l="0" t="-3263" r="0" b="-3263"/>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Freeform 2" id="2"/>
          <p:cNvSpPr/>
          <p:nvPr/>
        </p:nvSpPr>
        <p:spPr>
          <a:xfrm flipH="false" flipV="false" rot="0">
            <a:off x="0" y="-28575"/>
            <a:ext cx="4953000" cy="10315575"/>
          </a:xfrm>
          <a:custGeom>
            <a:avLst/>
            <a:gdLst/>
            <a:ahLst/>
            <a:cxnLst/>
            <a:rect r="r" b="b" t="t" l="l"/>
            <a:pathLst>
              <a:path h="10315575" w="4953000">
                <a:moveTo>
                  <a:pt x="0" y="0"/>
                </a:moveTo>
                <a:lnTo>
                  <a:pt x="4953000" y="0"/>
                </a:lnTo>
                <a:lnTo>
                  <a:pt x="4953000" y="10315575"/>
                </a:lnTo>
                <a:lnTo>
                  <a:pt x="0" y="10315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750" y="952500"/>
            <a:ext cx="2857500" cy="989971"/>
          </a:xfrm>
          <a:prstGeom prst="rect">
            <a:avLst/>
          </a:prstGeom>
        </p:spPr>
        <p:txBody>
          <a:bodyPr anchor="t" rtlCol="false" tIns="0" lIns="0" bIns="0" rIns="0">
            <a:spAutoFit/>
          </a:bodyPr>
          <a:lstStyle/>
          <a:p>
            <a:pPr algn="l">
              <a:lnSpc>
                <a:spcPts val="7384"/>
              </a:lnSpc>
            </a:pPr>
            <a:r>
              <a:rPr lang="en-US" b="true" sz="5273" spc="631">
                <a:solidFill>
                  <a:srgbClr val="10242B"/>
                </a:solidFill>
                <a:latin typeface="DM Sans Bold"/>
                <a:ea typeface="DM Sans Bold"/>
                <a:cs typeface="DM Sans Bold"/>
                <a:sym typeface="DM Sans Bold"/>
              </a:rPr>
              <a:t>VISION</a:t>
            </a:r>
          </a:p>
        </p:txBody>
      </p:sp>
      <p:sp>
        <p:nvSpPr>
          <p:cNvPr name="TextBox 4" id="4"/>
          <p:cNvSpPr txBox="true"/>
          <p:nvPr/>
        </p:nvSpPr>
        <p:spPr>
          <a:xfrm rot="0">
            <a:off x="5905500" y="2552700"/>
            <a:ext cx="10668000" cy="2037969"/>
          </a:xfrm>
          <a:prstGeom prst="rect">
            <a:avLst/>
          </a:prstGeom>
        </p:spPr>
        <p:txBody>
          <a:bodyPr anchor="t" rtlCol="false" tIns="0" lIns="0" bIns="0" rIns="0">
            <a:spAutoFit/>
          </a:bodyPr>
          <a:lstStyle/>
          <a:p>
            <a:pPr algn="l">
              <a:lnSpc>
                <a:spcPts val="5508"/>
              </a:lnSpc>
            </a:pPr>
            <a:r>
              <a:rPr lang="en-US" sz="5400" b="true">
                <a:solidFill>
                  <a:srgbClr val="10242B"/>
                </a:solidFill>
                <a:latin typeface="League Spartan"/>
                <a:ea typeface="League Spartan"/>
                <a:cs typeface="League Spartan"/>
                <a:sym typeface="League Spartan"/>
              </a:rPr>
              <a:t>“To enable efficient, real-time traffic management through innovative digital solutions.”</a:t>
            </a:r>
          </a:p>
        </p:txBody>
      </p:sp>
      <p:sp>
        <p:nvSpPr>
          <p:cNvPr name="TextBox 5" id="5"/>
          <p:cNvSpPr txBox="true"/>
          <p:nvPr/>
        </p:nvSpPr>
        <p:spPr>
          <a:xfrm rot="0">
            <a:off x="5562600" y="5057775"/>
            <a:ext cx="11353800" cy="3797751"/>
          </a:xfrm>
          <a:prstGeom prst="rect">
            <a:avLst/>
          </a:prstGeom>
        </p:spPr>
        <p:txBody>
          <a:bodyPr anchor="t" rtlCol="false" tIns="0" lIns="0" bIns="0" rIns="0">
            <a:spAutoFit/>
          </a:bodyPr>
          <a:lstStyle/>
          <a:p>
            <a:pPr algn="ctr">
              <a:lnSpc>
                <a:spcPts val="3299"/>
              </a:lnSpc>
            </a:pPr>
            <a:r>
              <a:rPr lang="en-US" b="true" sz="2357" spc="282">
                <a:solidFill>
                  <a:srgbClr val="10242B"/>
                </a:solidFill>
                <a:latin typeface="DM Sans Bold"/>
                <a:ea typeface="DM Sans Bold"/>
                <a:cs typeface="DM Sans Bold"/>
                <a:sym typeface="DM Sans Bold"/>
              </a:rPr>
              <a:t>To create a smarter, more efficient, and sustainable urban transportation system through innovative digital solutions. Smartflow envisions a future where traffic conditions can be monitored in real time, congestion can be identified quickly, and traffic signals can be managed more effectively. By improving traffic visibility and supporting timely decisions, we aim to make daily commuting smoother, reduce unnecessary delays, and contribute to better urban mobility.</a:t>
            </a:r>
          </a:p>
          <a:p>
            <a:pPr algn="ctr">
              <a:lnSpc>
                <a:spcPts val="329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Freeform 2" id="2"/>
          <p:cNvSpPr/>
          <p:nvPr/>
        </p:nvSpPr>
        <p:spPr>
          <a:xfrm flipH="false" flipV="false" rot="0">
            <a:off x="13525500" y="-1362075"/>
            <a:ext cx="5715000" cy="5743575"/>
          </a:xfrm>
          <a:custGeom>
            <a:avLst/>
            <a:gdLst/>
            <a:ahLst/>
            <a:cxnLst/>
            <a:rect r="r" b="b" t="t" l="l"/>
            <a:pathLst>
              <a:path h="5743575" w="5715000">
                <a:moveTo>
                  <a:pt x="0" y="0"/>
                </a:moveTo>
                <a:lnTo>
                  <a:pt x="5715000" y="0"/>
                </a:lnTo>
                <a:lnTo>
                  <a:pt x="5715000" y="5743575"/>
                </a:lnTo>
                <a:lnTo>
                  <a:pt x="0" y="5743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47750" y="1781175"/>
            <a:ext cx="1524000" cy="123825"/>
          </a:xfrm>
          <a:custGeom>
            <a:avLst/>
            <a:gdLst/>
            <a:ahLst/>
            <a:cxnLst/>
            <a:rect r="r" b="b" t="t" l="l"/>
            <a:pathLst>
              <a:path h="123825" w="1524000">
                <a:moveTo>
                  <a:pt x="0" y="0"/>
                </a:moveTo>
                <a:lnTo>
                  <a:pt x="1524000" y="0"/>
                </a:lnTo>
                <a:lnTo>
                  <a:pt x="1524000" y="123825"/>
                </a:lnTo>
                <a:lnTo>
                  <a:pt x="0" y="1238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47750" y="2647950"/>
            <a:ext cx="6667500" cy="876300"/>
          </a:xfrm>
          <a:prstGeom prst="rect">
            <a:avLst/>
          </a:prstGeom>
        </p:spPr>
        <p:txBody>
          <a:bodyPr anchor="t" rtlCol="false" tIns="0" lIns="0" bIns="0" rIns="0">
            <a:spAutoFit/>
          </a:bodyPr>
          <a:lstStyle/>
          <a:p>
            <a:pPr algn="l">
              <a:lnSpc>
                <a:spcPts val="7650"/>
              </a:lnSpc>
            </a:pPr>
            <a:r>
              <a:rPr lang="en-US" sz="7500" b="true">
                <a:solidFill>
                  <a:srgbClr val="FFFFFF"/>
                </a:solidFill>
                <a:latin typeface="League Spartan"/>
                <a:ea typeface="League Spartan"/>
                <a:cs typeface="League Spartan"/>
                <a:sym typeface="League Spartan"/>
              </a:rPr>
              <a:t>Mission</a:t>
            </a:r>
          </a:p>
        </p:txBody>
      </p:sp>
      <p:sp>
        <p:nvSpPr>
          <p:cNvPr name="TextBox 5" id="5"/>
          <p:cNvSpPr txBox="true"/>
          <p:nvPr/>
        </p:nvSpPr>
        <p:spPr>
          <a:xfrm rot="0">
            <a:off x="6858000" y="2476500"/>
            <a:ext cx="9334500" cy="1581150"/>
          </a:xfrm>
          <a:prstGeom prst="rect">
            <a:avLst/>
          </a:prstGeom>
        </p:spPr>
        <p:txBody>
          <a:bodyPr anchor="t" rtlCol="false" tIns="0" lIns="0" bIns="0" rIns="0">
            <a:spAutoFit/>
          </a:bodyPr>
          <a:lstStyle/>
          <a:p>
            <a:pPr algn="l">
              <a:lnSpc>
                <a:spcPts val="4050"/>
              </a:lnSpc>
            </a:pPr>
            <a:r>
              <a:rPr lang="en-US" sz="3000">
                <a:solidFill>
                  <a:srgbClr val="FFFFFF"/>
                </a:solidFill>
                <a:latin typeface="DM Sans"/>
                <a:ea typeface="DM Sans"/>
                <a:cs typeface="DM Sans"/>
                <a:sym typeface="DM Sans"/>
              </a:rPr>
              <a:t>Develop Smartflow, a web platform providing live traffic tracking and smart signal control to reduce congestion and improve urban mobility.</a:t>
            </a:r>
          </a:p>
        </p:txBody>
      </p:sp>
      <p:sp>
        <p:nvSpPr>
          <p:cNvPr name="TextBox 6" id="6"/>
          <p:cNvSpPr txBox="true"/>
          <p:nvPr/>
        </p:nvSpPr>
        <p:spPr>
          <a:xfrm rot="0">
            <a:off x="5013208" y="5048250"/>
            <a:ext cx="12246092" cy="4334161"/>
          </a:xfrm>
          <a:prstGeom prst="rect">
            <a:avLst/>
          </a:prstGeom>
        </p:spPr>
        <p:txBody>
          <a:bodyPr anchor="t" rtlCol="false" tIns="0" lIns="0" bIns="0" rIns="0">
            <a:spAutoFit/>
          </a:bodyPr>
          <a:lstStyle/>
          <a:p>
            <a:pPr algn="ctr">
              <a:lnSpc>
                <a:spcPts val="3134"/>
              </a:lnSpc>
            </a:pPr>
            <a:r>
              <a:rPr lang="en-US" b="true" sz="2238" spc="268">
                <a:solidFill>
                  <a:srgbClr val="FFFFFF"/>
                </a:solidFill>
                <a:latin typeface="DM Sans Bold"/>
                <a:ea typeface="DM Sans Bold"/>
                <a:cs typeface="DM Sans Bold"/>
                <a:sym typeface="DM Sans Bold"/>
              </a:rPr>
              <a:t>Our mission is to develop Smartflow, a centralized web platform that integrates live traffic monitoring with smart traffic signal control. The platform aims to help traffic authorities and operators view traffic conditions across selected regions, identify congestion, and manage signals through a unified interface. By reducing dependence on fragmented monitoring systems and supporting faster, more informed decisions, Smartflow seeks to improve traffic coordination, optimize road usage, and enhance the overall commuting experience. Our focus is to provide an accessible, user-friendly, and scalable solution that can support the evolving traffic management needs of urban areas.</a:t>
            </a:r>
          </a:p>
          <a:p>
            <a:pPr algn="ctr">
              <a:lnSpc>
                <a:spcPts val="3134"/>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1028700" y="2431923"/>
            <a:ext cx="8858250" cy="1136142"/>
          </a:xfrm>
          <a:prstGeom prst="rect">
            <a:avLst/>
          </a:prstGeom>
        </p:spPr>
        <p:txBody>
          <a:bodyPr anchor="t" rtlCol="false" tIns="0" lIns="0" bIns="0" rIns="0">
            <a:spAutoFit/>
          </a:bodyPr>
          <a:lstStyle/>
          <a:p>
            <a:pPr algn="l">
              <a:lnSpc>
                <a:spcPts val="4794"/>
              </a:lnSpc>
            </a:pPr>
            <a:r>
              <a:rPr lang="en-US" sz="4700" b="true">
                <a:solidFill>
                  <a:srgbClr val="10242B"/>
                </a:solidFill>
                <a:latin typeface="League Spartan"/>
                <a:ea typeface="League Spartan"/>
                <a:cs typeface="League Spartan"/>
                <a:sym typeface="League Spartan"/>
              </a:rPr>
              <a:t>Traffic systems react</a:t>
            </a:r>
          </a:p>
          <a:p>
            <a:pPr algn="l">
              <a:lnSpc>
                <a:spcPts val="4794"/>
              </a:lnSpc>
            </a:pPr>
            <a:r>
              <a:rPr lang="en-US" sz="4700" b="true">
                <a:solidFill>
                  <a:srgbClr val="10242B"/>
                </a:solidFill>
                <a:latin typeface="League Spartan"/>
                <a:ea typeface="League Spartan"/>
                <a:cs typeface="League Spartan"/>
                <a:sym typeface="League Spartan"/>
              </a:rPr>
              <a:t>too slowly.</a:t>
            </a:r>
          </a:p>
        </p:txBody>
      </p:sp>
      <p:sp>
        <p:nvSpPr>
          <p:cNvPr name="TextBox 3" id="3"/>
          <p:cNvSpPr txBox="true"/>
          <p:nvPr/>
        </p:nvSpPr>
        <p:spPr>
          <a:xfrm rot="0">
            <a:off x="10287000" y="1066800"/>
            <a:ext cx="6191250" cy="741045"/>
          </a:xfrm>
          <a:prstGeom prst="rect">
            <a:avLst/>
          </a:prstGeom>
        </p:spPr>
        <p:txBody>
          <a:bodyPr anchor="t" rtlCol="false" tIns="0" lIns="0" bIns="0" rIns="0">
            <a:spAutoFit/>
          </a:bodyPr>
          <a:lstStyle/>
          <a:p>
            <a:pPr algn="l">
              <a:lnSpc>
                <a:spcPts val="2835"/>
              </a:lnSpc>
            </a:pPr>
            <a:r>
              <a:rPr lang="en-US" sz="2100" b="true">
                <a:solidFill>
                  <a:srgbClr val="10242B"/>
                </a:solidFill>
                <a:latin typeface="DM Sans Bold"/>
                <a:ea typeface="DM Sans Bold"/>
                <a:cs typeface="DM Sans Bold"/>
                <a:sym typeface="DM Sans Bold"/>
              </a:rPr>
              <a:t>Urban mobility is constrained by systems that cannot adapt at city speed.</a:t>
            </a:r>
          </a:p>
        </p:txBody>
      </p:sp>
      <p:sp>
        <p:nvSpPr>
          <p:cNvPr name="Freeform 4" id="4"/>
          <p:cNvSpPr/>
          <p:nvPr/>
        </p:nvSpPr>
        <p:spPr>
          <a:xfrm flipH="false" flipV="false" rot="0">
            <a:off x="1047750" y="4257675"/>
            <a:ext cx="4953000" cy="4124325"/>
          </a:xfrm>
          <a:custGeom>
            <a:avLst/>
            <a:gdLst/>
            <a:ahLst/>
            <a:cxnLst/>
            <a:rect r="r" b="b" t="t" l="l"/>
            <a:pathLst>
              <a:path h="4124325" w="4953000">
                <a:moveTo>
                  <a:pt x="0" y="0"/>
                </a:moveTo>
                <a:lnTo>
                  <a:pt x="4953000" y="0"/>
                </a:lnTo>
                <a:lnTo>
                  <a:pt x="4953000" y="4124325"/>
                </a:lnTo>
                <a:lnTo>
                  <a:pt x="0" y="4124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77000" y="4257675"/>
            <a:ext cx="4953000" cy="4124325"/>
          </a:xfrm>
          <a:custGeom>
            <a:avLst/>
            <a:gdLst/>
            <a:ahLst/>
            <a:cxnLst/>
            <a:rect r="r" b="b" t="t" l="l"/>
            <a:pathLst>
              <a:path h="4124325" w="4953000">
                <a:moveTo>
                  <a:pt x="0" y="0"/>
                </a:moveTo>
                <a:lnTo>
                  <a:pt x="4953000" y="0"/>
                </a:lnTo>
                <a:lnTo>
                  <a:pt x="4953000" y="4124325"/>
                </a:lnTo>
                <a:lnTo>
                  <a:pt x="0" y="412432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906250" y="4257675"/>
            <a:ext cx="4953000" cy="4124325"/>
          </a:xfrm>
          <a:custGeom>
            <a:avLst/>
            <a:gdLst/>
            <a:ahLst/>
            <a:cxnLst/>
            <a:rect r="r" b="b" t="t" l="l"/>
            <a:pathLst>
              <a:path h="4124325" w="4953000">
                <a:moveTo>
                  <a:pt x="0" y="0"/>
                </a:moveTo>
                <a:lnTo>
                  <a:pt x="4953000" y="0"/>
                </a:lnTo>
                <a:lnTo>
                  <a:pt x="4953000" y="4124325"/>
                </a:lnTo>
                <a:lnTo>
                  <a:pt x="0" y="412432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381125" y="4724400"/>
            <a:ext cx="952500" cy="510159"/>
          </a:xfrm>
          <a:prstGeom prst="rect">
            <a:avLst/>
          </a:prstGeom>
        </p:spPr>
        <p:txBody>
          <a:bodyPr anchor="t" rtlCol="false" tIns="0" lIns="0" bIns="0" rIns="0">
            <a:spAutoFit/>
          </a:bodyPr>
          <a:lstStyle/>
          <a:p>
            <a:pPr algn="l">
              <a:lnSpc>
                <a:spcPts val="4486"/>
              </a:lnSpc>
            </a:pPr>
            <a:r>
              <a:rPr lang="en-US" sz="4398" b="true">
                <a:solidFill>
                  <a:srgbClr val="B8E34A"/>
                </a:solidFill>
                <a:latin typeface="League Spartan"/>
                <a:ea typeface="League Spartan"/>
                <a:cs typeface="League Spartan"/>
                <a:sym typeface="League Spartan"/>
              </a:rPr>
              <a:t>01</a:t>
            </a:r>
          </a:p>
        </p:txBody>
      </p:sp>
      <p:sp>
        <p:nvSpPr>
          <p:cNvPr name="TextBox 8" id="8"/>
          <p:cNvSpPr txBox="true"/>
          <p:nvPr/>
        </p:nvSpPr>
        <p:spPr>
          <a:xfrm rot="0">
            <a:off x="1381125" y="5524500"/>
            <a:ext cx="4191000" cy="454028"/>
          </a:xfrm>
          <a:prstGeom prst="rect">
            <a:avLst/>
          </a:prstGeom>
        </p:spPr>
        <p:txBody>
          <a:bodyPr anchor="t" rtlCol="false" tIns="0" lIns="0" bIns="0" rIns="0">
            <a:spAutoFit/>
          </a:bodyPr>
          <a:lstStyle/>
          <a:p>
            <a:pPr algn="l">
              <a:lnSpc>
                <a:spcPts val="3324"/>
              </a:lnSpc>
            </a:pPr>
            <a:r>
              <a:rPr lang="en-US" b="true" sz="2373" spc="283">
                <a:solidFill>
                  <a:srgbClr val="10242B"/>
                </a:solidFill>
                <a:latin typeface="DM Sans Bold"/>
                <a:ea typeface="DM Sans Bold"/>
                <a:cs typeface="DM Sans Bold"/>
                <a:sym typeface="DM Sans Bold"/>
              </a:rPr>
              <a:t>CONGESTION</a:t>
            </a:r>
          </a:p>
        </p:txBody>
      </p:sp>
      <p:sp>
        <p:nvSpPr>
          <p:cNvPr name="TextBox 9" id="9"/>
          <p:cNvSpPr txBox="true"/>
          <p:nvPr/>
        </p:nvSpPr>
        <p:spPr>
          <a:xfrm rot="0">
            <a:off x="1381125" y="6210300"/>
            <a:ext cx="4191000" cy="1396841"/>
          </a:xfrm>
          <a:prstGeom prst="rect">
            <a:avLst/>
          </a:prstGeom>
        </p:spPr>
        <p:txBody>
          <a:bodyPr anchor="t" rtlCol="false" tIns="0" lIns="0" bIns="0" rIns="0">
            <a:spAutoFit/>
          </a:bodyPr>
          <a:lstStyle/>
          <a:p>
            <a:pPr algn="l">
              <a:lnSpc>
                <a:spcPts val="3610"/>
              </a:lnSpc>
            </a:pPr>
            <a:r>
              <a:rPr lang="en-US" sz="2673">
                <a:solidFill>
                  <a:srgbClr val="10242B"/>
                </a:solidFill>
                <a:latin typeface="DM Sans"/>
                <a:ea typeface="DM Sans"/>
                <a:cs typeface="DM Sans"/>
                <a:sym typeface="DM Sans"/>
              </a:rPr>
              <a:t>Delays, pollution, and economic loss compound across the city.</a:t>
            </a:r>
          </a:p>
        </p:txBody>
      </p:sp>
      <p:sp>
        <p:nvSpPr>
          <p:cNvPr name="TextBox 10" id="10"/>
          <p:cNvSpPr txBox="true"/>
          <p:nvPr/>
        </p:nvSpPr>
        <p:spPr>
          <a:xfrm rot="0">
            <a:off x="6810375" y="4724400"/>
            <a:ext cx="952500" cy="510159"/>
          </a:xfrm>
          <a:prstGeom prst="rect">
            <a:avLst/>
          </a:prstGeom>
        </p:spPr>
        <p:txBody>
          <a:bodyPr anchor="t" rtlCol="false" tIns="0" lIns="0" bIns="0" rIns="0">
            <a:spAutoFit/>
          </a:bodyPr>
          <a:lstStyle/>
          <a:p>
            <a:pPr algn="l">
              <a:lnSpc>
                <a:spcPts val="4486"/>
              </a:lnSpc>
            </a:pPr>
            <a:r>
              <a:rPr lang="en-US" sz="4398" b="true">
                <a:solidFill>
                  <a:srgbClr val="B8E34A"/>
                </a:solidFill>
                <a:latin typeface="League Spartan"/>
                <a:ea typeface="League Spartan"/>
                <a:cs typeface="League Spartan"/>
                <a:sym typeface="League Spartan"/>
              </a:rPr>
              <a:t>02</a:t>
            </a:r>
          </a:p>
        </p:txBody>
      </p:sp>
      <p:sp>
        <p:nvSpPr>
          <p:cNvPr name="TextBox 11" id="11"/>
          <p:cNvSpPr txBox="true"/>
          <p:nvPr/>
        </p:nvSpPr>
        <p:spPr>
          <a:xfrm rot="0">
            <a:off x="6810375" y="5524500"/>
            <a:ext cx="4191000" cy="454028"/>
          </a:xfrm>
          <a:prstGeom prst="rect">
            <a:avLst/>
          </a:prstGeom>
        </p:spPr>
        <p:txBody>
          <a:bodyPr anchor="t" rtlCol="false" tIns="0" lIns="0" bIns="0" rIns="0">
            <a:spAutoFit/>
          </a:bodyPr>
          <a:lstStyle/>
          <a:p>
            <a:pPr algn="l">
              <a:lnSpc>
                <a:spcPts val="3324"/>
              </a:lnSpc>
            </a:pPr>
            <a:r>
              <a:rPr lang="en-US" b="true" sz="2373" spc="283">
                <a:solidFill>
                  <a:srgbClr val="FFFFFF"/>
                </a:solidFill>
                <a:latin typeface="DM Sans Bold"/>
                <a:ea typeface="DM Sans Bold"/>
                <a:cs typeface="DM Sans Bold"/>
                <a:sym typeface="DM Sans Bold"/>
              </a:rPr>
              <a:t>STATIC CONTROL</a:t>
            </a:r>
          </a:p>
        </p:txBody>
      </p:sp>
      <p:sp>
        <p:nvSpPr>
          <p:cNvPr name="TextBox 12" id="12"/>
          <p:cNvSpPr txBox="true"/>
          <p:nvPr/>
        </p:nvSpPr>
        <p:spPr>
          <a:xfrm rot="0">
            <a:off x="6810375" y="6210300"/>
            <a:ext cx="4191000" cy="1854041"/>
          </a:xfrm>
          <a:prstGeom prst="rect">
            <a:avLst/>
          </a:prstGeom>
        </p:spPr>
        <p:txBody>
          <a:bodyPr anchor="t" rtlCol="false" tIns="0" lIns="0" bIns="0" rIns="0">
            <a:spAutoFit/>
          </a:bodyPr>
          <a:lstStyle/>
          <a:p>
            <a:pPr algn="l">
              <a:lnSpc>
                <a:spcPts val="3610"/>
              </a:lnSpc>
            </a:pPr>
            <a:r>
              <a:rPr lang="en-US" sz="2673">
                <a:solidFill>
                  <a:srgbClr val="FFFFFF"/>
                </a:solidFill>
                <a:latin typeface="DM Sans"/>
                <a:ea typeface="DM Sans"/>
                <a:cs typeface="DM Sans"/>
                <a:sym typeface="DM Sans"/>
              </a:rPr>
              <a:t>Traditional management lacks real-time adaptability and centralized control.</a:t>
            </a:r>
          </a:p>
        </p:txBody>
      </p:sp>
      <p:sp>
        <p:nvSpPr>
          <p:cNvPr name="TextBox 13" id="13"/>
          <p:cNvSpPr txBox="true"/>
          <p:nvPr/>
        </p:nvSpPr>
        <p:spPr>
          <a:xfrm rot="0">
            <a:off x="12239625" y="4724400"/>
            <a:ext cx="952500" cy="510159"/>
          </a:xfrm>
          <a:prstGeom prst="rect">
            <a:avLst/>
          </a:prstGeom>
        </p:spPr>
        <p:txBody>
          <a:bodyPr anchor="t" rtlCol="false" tIns="0" lIns="0" bIns="0" rIns="0">
            <a:spAutoFit/>
          </a:bodyPr>
          <a:lstStyle/>
          <a:p>
            <a:pPr algn="l">
              <a:lnSpc>
                <a:spcPts val="4486"/>
              </a:lnSpc>
            </a:pPr>
            <a:r>
              <a:rPr lang="en-US" sz="4398" b="true">
                <a:solidFill>
                  <a:srgbClr val="B8E34A"/>
                </a:solidFill>
                <a:latin typeface="League Spartan"/>
                <a:ea typeface="League Spartan"/>
                <a:cs typeface="League Spartan"/>
                <a:sym typeface="League Spartan"/>
              </a:rPr>
              <a:t>03</a:t>
            </a:r>
          </a:p>
        </p:txBody>
      </p:sp>
      <p:sp>
        <p:nvSpPr>
          <p:cNvPr name="TextBox 14" id="14"/>
          <p:cNvSpPr txBox="true"/>
          <p:nvPr/>
        </p:nvSpPr>
        <p:spPr>
          <a:xfrm rot="0">
            <a:off x="12239625" y="5524500"/>
            <a:ext cx="4191000" cy="454028"/>
          </a:xfrm>
          <a:prstGeom prst="rect">
            <a:avLst/>
          </a:prstGeom>
        </p:spPr>
        <p:txBody>
          <a:bodyPr anchor="t" rtlCol="false" tIns="0" lIns="0" bIns="0" rIns="0">
            <a:spAutoFit/>
          </a:bodyPr>
          <a:lstStyle/>
          <a:p>
            <a:pPr algn="l">
              <a:lnSpc>
                <a:spcPts val="3324"/>
              </a:lnSpc>
            </a:pPr>
            <a:r>
              <a:rPr lang="en-US" b="true" sz="2373" spc="283">
                <a:solidFill>
                  <a:srgbClr val="10242B"/>
                </a:solidFill>
                <a:latin typeface="DM Sans Bold"/>
                <a:ea typeface="DM Sans Bold"/>
                <a:cs typeface="DM Sans Bold"/>
                <a:sym typeface="DM Sans Bold"/>
              </a:rPr>
              <a:t>SYSTEM NEED</a:t>
            </a:r>
          </a:p>
        </p:txBody>
      </p:sp>
      <p:sp>
        <p:nvSpPr>
          <p:cNvPr name="TextBox 15" id="15"/>
          <p:cNvSpPr txBox="true"/>
          <p:nvPr/>
        </p:nvSpPr>
        <p:spPr>
          <a:xfrm rot="0">
            <a:off x="12239625" y="6210300"/>
            <a:ext cx="4191000" cy="1854041"/>
          </a:xfrm>
          <a:prstGeom prst="rect">
            <a:avLst/>
          </a:prstGeom>
        </p:spPr>
        <p:txBody>
          <a:bodyPr anchor="t" rtlCol="false" tIns="0" lIns="0" bIns="0" rIns="0">
            <a:spAutoFit/>
          </a:bodyPr>
          <a:lstStyle/>
          <a:p>
            <a:pPr algn="l">
              <a:lnSpc>
                <a:spcPts val="3610"/>
              </a:lnSpc>
            </a:pPr>
            <a:r>
              <a:rPr lang="en-US" sz="2673">
                <a:solidFill>
                  <a:srgbClr val="10242B"/>
                </a:solidFill>
                <a:latin typeface="DM Sans"/>
                <a:ea typeface="DM Sans"/>
                <a:cs typeface="DM Sans"/>
                <a:sym typeface="DM Sans"/>
              </a:rPr>
              <a:t>Signals must be monitored and controlled dynamically as one integrated network.</a:t>
            </a:r>
          </a:p>
        </p:txBody>
      </p:sp>
      <p:sp>
        <p:nvSpPr>
          <p:cNvPr name="TextBox 16" id="16"/>
          <p:cNvSpPr txBox="true"/>
          <p:nvPr/>
        </p:nvSpPr>
        <p:spPr>
          <a:xfrm rot="0">
            <a:off x="780631" y="939355"/>
            <a:ext cx="8858250" cy="536067"/>
          </a:xfrm>
          <a:prstGeom prst="rect">
            <a:avLst/>
          </a:prstGeom>
        </p:spPr>
        <p:txBody>
          <a:bodyPr anchor="t" rtlCol="false" tIns="0" lIns="0" bIns="0" rIns="0">
            <a:spAutoFit/>
          </a:bodyPr>
          <a:lstStyle/>
          <a:p>
            <a:pPr algn="l">
              <a:lnSpc>
                <a:spcPts val="4794"/>
              </a:lnSpc>
            </a:pPr>
            <a:r>
              <a:rPr lang="en-US" sz="4700" b="true">
                <a:solidFill>
                  <a:srgbClr val="10242B"/>
                </a:solidFill>
                <a:latin typeface="League Spartan"/>
                <a:ea typeface="League Spartan"/>
                <a:cs typeface="League Spartan"/>
                <a:sym typeface="League Spartan"/>
              </a:rPr>
              <a:t>PROBLEM STATEMENT: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895350" y="2048923"/>
            <a:ext cx="11430000" cy="673227"/>
          </a:xfrm>
          <a:prstGeom prst="rect">
            <a:avLst/>
          </a:prstGeom>
        </p:spPr>
        <p:txBody>
          <a:bodyPr anchor="t" rtlCol="false" tIns="0" lIns="0" bIns="0" rIns="0">
            <a:spAutoFit/>
          </a:bodyPr>
          <a:lstStyle/>
          <a:p>
            <a:pPr algn="l">
              <a:lnSpc>
                <a:spcPts val="5814"/>
              </a:lnSpc>
            </a:pPr>
            <a:r>
              <a:rPr lang="en-US" sz="5700" b="true">
                <a:solidFill>
                  <a:srgbClr val="10242B"/>
                </a:solidFill>
                <a:latin typeface="League Spartan"/>
                <a:ea typeface="League Spartan"/>
                <a:cs typeface="League Spartan"/>
                <a:sym typeface="League Spartan"/>
              </a:rPr>
              <a:t>Three forces shape the market</a:t>
            </a:r>
          </a:p>
        </p:txBody>
      </p:sp>
      <p:sp>
        <p:nvSpPr>
          <p:cNvPr name="AutoShape 3" id="3"/>
          <p:cNvSpPr/>
          <p:nvPr/>
        </p:nvSpPr>
        <p:spPr>
          <a:xfrm rot="6060">
            <a:off x="1033453" y="2943225"/>
            <a:ext cx="16221104" cy="0"/>
          </a:xfrm>
          <a:prstGeom prst="line">
            <a:avLst/>
          </a:prstGeom>
          <a:ln cap="rnd" w="19050">
            <a:solidFill>
              <a:srgbClr val="10242B"/>
            </a:solidFill>
            <a:prstDash val="solid"/>
            <a:headEnd type="none" len="sm" w="sm"/>
            <a:tailEnd type="none" len="sm" w="sm"/>
          </a:ln>
        </p:spPr>
      </p:sp>
      <p:sp>
        <p:nvSpPr>
          <p:cNvPr name="Freeform 4" id="4"/>
          <p:cNvSpPr/>
          <p:nvPr/>
        </p:nvSpPr>
        <p:spPr>
          <a:xfrm flipH="false" flipV="false" rot="0">
            <a:off x="1047750" y="3378994"/>
            <a:ext cx="266700" cy="316706"/>
          </a:xfrm>
          <a:custGeom>
            <a:avLst/>
            <a:gdLst/>
            <a:ahLst/>
            <a:cxnLst/>
            <a:rect r="r" b="b" t="t" l="l"/>
            <a:pathLst>
              <a:path h="316706" w="266700">
                <a:moveTo>
                  <a:pt x="0" y="0"/>
                </a:moveTo>
                <a:lnTo>
                  <a:pt x="266700" y="0"/>
                </a:lnTo>
                <a:lnTo>
                  <a:pt x="266700" y="316706"/>
                </a:lnTo>
                <a:lnTo>
                  <a:pt x="0" y="316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6477000" y="3378994"/>
            <a:ext cx="266700" cy="316706"/>
          </a:xfrm>
          <a:custGeom>
            <a:avLst/>
            <a:gdLst/>
            <a:ahLst/>
            <a:cxnLst/>
            <a:rect r="r" b="b" t="t" l="l"/>
            <a:pathLst>
              <a:path h="316706" w="266700">
                <a:moveTo>
                  <a:pt x="0" y="0"/>
                </a:moveTo>
                <a:lnTo>
                  <a:pt x="266700" y="0"/>
                </a:lnTo>
                <a:lnTo>
                  <a:pt x="266700" y="316706"/>
                </a:lnTo>
                <a:lnTo>
                  <a:pt x="0" y="316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1906250" y="3378994"/>
            <a:ext cx="266700" cy="316706"/>
          </a:xfrm>
          <a:custGeom>
            <a:avLst/>
            <a:gdLst/>
            <a:ahLst/>
            <a:cxnLst/>
            <a:rect r="r" b="b" t="t" l="l"/>
            <a:pathLst>
              <a:path h="316706" w="266700">
                <a:moveTo>
                  <a:pt x="0" y="0"/>
                </a:moveTo>
                <a:lnTo>
                  <a:pt x="266700" y="0"/>
                </a:lnTo>
                <a:lnTo>
                  <a:pt x="266700" y="316706"/>
                </a:lnTo>
                <a:lnTo>
                  <a:pt x="0" y="3167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47750" y="4095750"/>
            <a:ext cx="4762500" cy="494033"/>
          </a:xfrm>
          <a:prstGeom prst="rect">
            <a:avLst/>
          </a:prstGeom>
        </p:spPr>
        <p:txBody>
          <a:bodyPr anchor="t" rtlCol="false" tIns="0" lIns="0" bIns="0" rIns="0">
            <a:spAutoFit/>
          </a:bodyPr>
          <a:lstStyle/>
          <a:p>
            <a:pPr algn="l">
              <a:lnSpc>
                <a:spcPts val="3743"/>
              </a:lnSpc>
            </a:pPr>
            <a:r>
              <a:rPr lang="en-US" b="true" sz="2673" spc="319">
                <a:solidFill>
                  <a:srgbClr val="10242B"/>
                </a:solidFill>
                <a:latin typeface="DM Sans Bold"/>
                <a:ea typeface="DM Sans Bold"/>
                <a:cs typeface="DM Sans Bold"/>
                <a:sym typeface="DM Sans Bold"/>
              </a:rPr>
              <a:t>URBAN PRESSURE</a:t>
            </a:r>
          </a:p>
        </p:txBody>
      </p:sp>
      <p:sp>
        <p:nvSpPr>
          <p:cNvPr name="TextBox 8" id="8"/>
          <p:cNvSpPr txBox="true"/>
          <p:nvPr/>
        </p:nvSpPr>
        <p:spPr>
          <a:xfrm rot="0">
            <a:off x="1047750" y="4838700"/>
            <a:ext cx="4476750" cy="2373154"/>
          </a:xfrm>
          <a:prstGeom prst="rect">
            <a:avLst/>
          </a:prstGeom>
        </p:spPr>
        <p:txBody>
          <a:bodyPr anchor="t" rtlCol="false" tIns="0" lIns="0" bIns="0" rIns="0">
            <a:spAutoFit/>
          </a:bodyPr>
          <a:lstStyle/>
          <a:p>
            <a:pPr algn="l">
              <a:lnSpc>
                <a:spcPts val="4623"/>
              </a:lnSpc>
            </a:pPr>
            <a:r>
              <a:rPr lang="en-US" sz="3423">
                <a:solidFill>
                  <a:srgbClr val="10242B"/>
                </a:solidFill>
                <a:latin typeface="DM Sans"/>
                <a:ea typeface="DM Sans"/>
                <a:cs typeface="DM Sans"/>
                <a:sym typeface="DM Sans"/>
              </a:rPr>
              <a:t>Rapid urbanization increases traffic volume in metropolitan areas.</a:t>
            </a:r>
          </a:p>
        </p:txBody>
      </p:sp>
      <p:sp>
        <p:nvSpPr>
          <p:cNvPr name="TextBox 9" id="9"/>
          <p:cNvSpPr txBox="true"/>
          <p:nvPr/>
        </p:nvSpPr>
        <p:spPr>
          <a:xfrm rot="0">
            <a:off x="6477000" y="4095750"/>
            <a:ext cx="4762500" cy="494033"/>
          </a:xfrm>
          <a:prstGeom prst="rect">
            <a:avLst/>
          </a:prstGeom>
        </p:spPr>
        <p:txBody>
          <a:bodyPr anchor="t" rtlCol="false" tIns="0" lIns="0" bIns="0" rIns="0">
            <a:spAutoFit/>
          </a:bodyPr>
          <a:lstStyle/>
          <a:p>
            <a:pPr algn="l">
              <a:lnSpc>
                <a:spcPts val="3743"/>
              </a:lnSpc>
            </a:pPr>
            <a:r>
              <a:rPr lang="en-US" b="true" sz="2673" spc="319">
                <a:solidFill>
                  <a:srgbClr val="10242B"/>
                </a:solidFill>
                <a:latin typeface="DM Sans Bold"/>
                <a:ea typeface="DM Sans Bold"/>
                <a:cs typeface="DM Sans Bold"/>
                <a:sym typeface="DM Sans Bold"/>
              </a:rPr>
              <a:t>SMART-CITY DEMAND</a:t>
            </a:r>
          </a:p>
        </p:txBody>
      </p:sp>
      <p:sp>
        <p:nvSpPr>
          <p:cNvPr name="TextBox 10" id="10"/>
          <p:cNvSpPr txBox="true"/>
          <p:nvPr/>
        </p:nvSpPr>
        <p:spPr>
          <a:xfrm rot="0">
            <a:off x="6477000" y="4838700"/>
            <a:ext cx="4476750" cy="1792129"/>
          </a:xfrm>
          <a:prstGeom prst="rect">
            <a:avLst/>
          </a:prstGeom>
        </p:spPr>
        <p:txBody>
          <a:bodyPr anchor="t" rtlCol="false" tIns="0" lIns="0" bIns="0" rIns="0">
            <a:spAutoFit/>
          </a:bodyPr>
          <a:lstStyle/>
          <a:p>
            <a:pPr algn="l">
              <a:lnSpc>
                <a:spcPts val="4623"/>
              </a:lnSpc>
            </a:pPr>
            <a:r>
              <a:rPr lang="en-US" sz="3423">
                <a:solidFill>
                  <a:srgbClr val="10242B"/>
                </a:solidFill>
                <a:latin typeface="DM Sans"/>
                <a:ea typeface="DM Sans"/>
                <a:cs typeface="DM Sans"/>
                <a:sym typeface="DM Sans"/>
              </a:rPr>
              <a:t>Cities increasingly seek IoT and data analytics solutions.</a:t>
            </a:r>
          </a:p>
        </p:txBody>
      </p:sp>
      <p:sp>
        <p:nvSpPr>
          <p:cNvPr name="TextBox 11" id="11"/>
          <p:cNvSpPr txBox="true"/>
          <p:nvPr/>
        </p:nvSpPr>
        <p:spPr>
          <a:xfrm rot="0">
            <a:off x="11906250" y="4095750"/>
            <a:ext cx="4762500" cy="494033"/>
          </a:xfrm>
          <a:prstGeom prst="rect">
            <a:avLst/>
          </a:prstGeom>
        </p:spPr>
        <p:txBody>
          <a:bodyPr anchor="t" rtlCol="false" tIns="0" lIns="0" bIns="0" rIns="0">
            <a:spAutoFit/>
          </a:bodyPr>
          <a:lstStyle/>
          <a:p>
            <a:pPr algn="l">
              <a:lnSpc>
                <a:spcPts val="3743"/>
              </a:lnSpc>
            </a:pPr>
            <a:r>
              <a:rPr lang="en-US" b="true" sz="2673" spc="319">
                <a:solidFill>
                  <a:srgbClr val="10242B"/>
                </a:solidFill>
                <a:latin typeface="DM Sans Bold"/>
                <a:ea typeface="DM Sans Bold"/>
                <a:cs typeface="DM Sans Bold"/>
                <a:sym typeface="DM Sans Bold"/>
              </a:rPr>
              <a:t>FRAGMENTED SYSTEMS</a:t>
            </a:r>
          </a:p>
        </p:txBody>
      </p:sp>
      <p:sp>
        <p:nvSpPr>
          <p:cNvPr name="TextBox 12" id="12"/>
          <p:cNvSpPr txBox="true"/>
          <p:nvPr/>
        </p:nvSpPr>
        <p:spPr>
          <a:xfrm rot="0">
            <a:off x="11906250" y="4838700"/>
            <a:ext cx="4476750" cy="2373154"/>
          </a:xfrm>
          <a:prstGeom prst="rect">
            <a:avLst/>
          </a:prstGeom>
        </p:spPr>
        <p:txBody>
          <a:bodyPr anchor="t" rtlCol="false" tIns="0" lIns="0" bIns="0" rIns="0">
            <a:spAutoFit/>
          </a:bodyPr>
          <a:lstStyle/>
          <a:p>
            <a:pPr algn="l">
              <a:lnSpc>
                <a:spcPts val="4623"/>
              </a:lnSpc>
            </a:pPr>
            <a:r>
              <a:rPr lang="en-US" sz="3423">
                <a:solidFill>
                  <a:srgbClr val="10242B"/>
                </a:solidFill>
                <a:latin typeface="DM Sans"/>
                <a:ea typeface="DM Sans"/>
                <a:cs typeface="DM Sans"/>
                <a:sym typeface="DM Sans"/>
              </a:rPr>
              <a:t>Existing traffic control is often split across manual and isolated tools.</a:t>
            </a:r>
          </a:p>
        </p:txBody>
      </p:sp>
      <p:sp>
        <p:nvSpPr>
          <p:cNvPr name="TextBox 13" id="13"/>
          <p:cNvSpPr txBox="true"/>
          <p:nvPr/>
        </p:nvSpPr>
        <p:spPr>
          <a:xfrm rot="0">
            <a:off x="742950" y="527971"/>
            <a:ext cx="16836304" cy="806577"/>
          </a:xfrm>
          <a:prstGeom prst="rect">
            <a:avLst/>
          </a:prstGeom>
        </p:spPr>
        <p:txBody>
          <a:bodyPr anchor="t" rtlCol="false" tIns="0" lIns="0" bIns="0" rIns="0">
            <a:spAutoFit/>
          </a:bodyPr>
          <a:lstStyle/>
          <a:p>
            <a:pPr algn="l">
              <a:lnSpc>
                <a:spcPts val="5814"/>
              </a:lnSpc>
            </a:pPr>
            <a:r>
              <a:rPr lang="en-US" sz="5700" b="true">
                <a:solidFill>
                  <a:srgbClr val="10242B"/>
                </a:solidFill>
                <a:latin typeface="Poppins Bold"/>
                <a:ea typeface="Poppins Bold"/>
                <a:cs typeface="Poppins Bold"/>
                <a:sym typeface="Poppins Bold"/>
              </a:rPr>
              <a:t>RESEARCH/MARKET AND INDUSTRY STUDY: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TextBox 2" id="2"/>
          <p:cNvSpPr txBox="true"/>
          <p:nvPr/>
        </p:nvSpPr>
        <p:spPr>
          <a:xfrm rot="0">
            <a:off x="1028700" y="2419493"/>
            <a:ext cx="8096250" cy="1406652"/>
          </a:xfrm>
          <a:prstGeom prst="rect">
            <a:avLst/>
          </a:prstGeom>
        </p:spPr>
        <p:txBody>
          <a:bodyPr anchor="t" rtlCol="false" tIns="0" lIns="0" bIns="0" rIns="0">
            <a:spAutoFit/>
          </a:bodyPr>
          <a:lstStyle/>
          <a:p>
            <a:pPr algn="l">
              <a:lnSpc>
                <a:spcPts val="5814"/>
              </a:lnSpc>
            </a:pPr>
            <a:r>
              <a:rPr lang="en-US" sz="5700" b="true">
                <a:solidFill>
                  <a:srgbClr val="FFFFFF"/>
                </a:solidFill>
                <a:latin typeface="League Spartan"/>
                <a:ea typeface="League Spartan"/>
                <a:cs typeface="League Spartan"/>
                <a:sym typeface="League Spartan"/>
              </a:rPr>
              <a:t>One platform.</a:t>
            </a:r>
          </a:p>
          <a:p>
            <a:pPr algn="l">
              <a:lnSpc>
                <a:spcPts val="5814"/>
              </a:lnSpc>
            </a:pPr>
            <a:r>
              <a:rPr lang="en-US" sz="5700" b="true">
                <a:solidFill>
                  <a:srgbClr val="FFFFFF"/>
                </a:solidFill>
                <a:latin typeface="League Spartan"/>
                <a:ea typeface="League Spartan"/>
                <a:cs typeface="League Spartan"/>
                <a:sym typeface="League Spartan"/>
              </a:rPr>
              <a:t>Four perspectives.</a:t>
            </a:r>
          </a:p>
        </p:txBody>
      </p:sp>
      <p:sp>
        <p:nvSpPr>
          <p:cNvPr name="TextBox 3" id="3"/>
          <p:cNvSpPr txBox="true"/>
          <p:nvPr/>
        </p:nvSpPr>
        <p:spPr>
          <a:xfrm rot="0">
            <a:off x="11508562" y="2152793"/>
            <a:ext cx="6191250" cy="1259205"/>
          </a:xfrm>
          <a:prstGeom prst="rect">
            <a:avLst/>
          </a:prstGeom>
        </p:spPr>
        <p:txBody>
          <a:bodyPr anchor="t" rtlCol="false" tIns="0" lIns="0" bIns="0" rIns="0">
            <a:spAutoFit/>
          </a:bodyPr>
          <a:lstStyle/>
          <a:p>
            <a:pPr algn="l">
              <a:lnSpc>
                <a:spcPts val="3239"/>
              </a:lnSpc>
            </a:pPr>
            <a:r>
              <a:rPr lang="en-US" sz="2399">
                <a:solidFill>
                  <a:srgbClr val="FFFFFF"/>
                </a:solidFill>
                <a:latin typeface="DM Sans"/>
                <a:ea typeface="DM Sans"/>
                <a:cs typeface="DM Sans"/>
                <a:sym typeface="DM Sans"/>
              </a:rPr>
              <a:t>Decision-makers, operators, and the moving public share one operational picture.</a:t>
            </a:r>
          </a:p>
        </p:txBody>
      </p:sp>
      <p:grpSp>
        <p:nvGrpSpPr>
          <p:cNvPr name="Group 4" id="4"/>
          <p:cNvGrpSpPr/>
          <p:nvPr/>
        </p:nvGrpSpPr>
        <p:grpSpPr>
          <a:xfrm rot="0">
            <a:off x="1047750" y="5334000"/>
            <a:ext cx="3714750" cy="2991688"/>
            <a:chOff x="0" y="0"/>
            <a:chExt cx="4953000" cy="3988918"/>
          </a:xfrm>
        </p:grpSpPr>
        <p:sp>
          <p:nvSpPr>
            <p:cNvPr name="Freeform 5" id="5"/>
            <p:cNvSpPr/>
            <p:nvPr/>
          </p:nvSpPr>
          <p:spPr>
            <a:xfrm flipH="false" flipV="false" rot="0">
              <a:off x="0" y="0"/>
              <a:ext cx="4953000" cy="3988943"/>
            </a:xfrm>
            <a:custGeom>
              <a:avLst/>
              <a:gdLst/>
              <a:ahLst/>
              <a:cxnLst/>
              <a:rect r="r" b="b" t="t" l="l"/>
              <a:pathLst>
                <a:path h="3988943" w="4953000">
                  <a:moveTo>
                    <a:pt x="58674" y="0"/>
                  </a:moveTo>
                  <a:lnTo>
                    <a:pt x="4894326" y="0"/>
                  </a:lnTo>
                  <a:cubicBezTo>
                    <a:pt x="4926711" y="0"/>
                    <a:pt x="4953000" y="26289"/>
                    <a:pt x="4953000" y="58674"/>
                  </a:cubicBezTo>
                  <a:lnTo>
                    <a:pt x="4953000" y="3930269"/>
                  </a:lnTo>
                  <a:cubicBezTo>
                    <a:pt x="4953000" y="3962654"/>
                    <a:pt x="4926711" y="3988943"/>
                    <a:pt x="4894326" y="3988943"/>
                  </a:cubicBezTo>
                  <a:lnTo>
                    <a:pt x="58674" y="3988943"/>
                  </a:lnTo>
                  <a:cubicBezTo>
                    <a:pt x="26289" y="3988943"/>
                    <a:pt x="0" y="3962654"/>
                    <a:pt x="0" y="3930269"/>
                  </a:cubicBezTo>
                  <a:lnTo>
                    <a:pt x="0" y="58674"/>
                  </a:lnTo>
                  <a:cubicBezTo>
                    <a:pt x="0" y="26289"/>
                    <a:pt x="26289" y="0"/>
                    <a:pt x="58674" y="0"/>
                  </a:cubicBezTo>
                  <a:close/>
                </a:path>
              </a:pathLst>
            </a:custGeom>
            <a:solidFill>
              <a:srgbClr val="B8E34A"/>
            </a:solidFill>
          </p:spPr>
        </p:sp>
      </p:grpSp>
      <p:grpSp>
        <p:nvGrpSpPr>
          <p:cNvPr name="Group 6" id="6"/>
          <p:cNvGrpSpPr/>
          <p:nvPr/>
        </p:nvGrpSpPr>
        <p:grpSpPr>
          <a:xfrm rot="0">
            <a:off x="1047750" y="5348288"/>
            <a:ext cx="3714750" cy="2977401"/>
            <a:chOff x="0" y="0"/>
            <a:chExt cx="4953000" cy="3969868"/>
          </a:xfrm>
        </p:grpSpPr>
        <p:sp>
          <p:nvSpPr>
            <p:cNvPr name="Freeform 7" id="7"/>
            <p:cNvSpPr/>
            <p:nvPr/>
          </p:nvSpPr>
          <p:spPr>
            <a:xfrm flipH="false" flipV="false" rot="0">
              <a:off x="0" y="0"/>
              <a:ext cx="4953000" cy="3969862"/>
            </a:xfrm>
            <a:custGeom>
              <a:avLst/>
              <a:gdLst/>
              <a:ahLst/>
              <a:cxnLst/>
              <a:rect r="r" b="b" t="t" l="l"/>
              <a:pathLst>
                <a:path h="3969862" w="4953000">
                  <a:moveTo>
                    <a:pt x="0" y="0"/>
                  </a:moveTo>
                  <a:lnTo>
                    <a:pt x="4953000" y="0"/>
                  </a:lnTo>
                  <a:lnTo>
                    <a:pt x="4953000" y="3969862"/>
                  </a:lnTo>
                  <a:lnTo>
                    <a:pt x="0" y="3969862"/>
                  </a:lnTo>
                  <a:close/>
                </a:path>
              </a:pathLst>
            </a:custGeom>
            <a:blipFill>
              <a:blip r:embed="rId2">
                <a:alphaModFix amt="0"/>
              </a:blip>
              <a:stretch>
                <a:fillRect l="-52836" t="0" r="-52836" b="0"/>
              </a:stretch>
            </a:blipFill>
          </p:spPr>
        </p:sp>
        <p:sp>
          <p:nvSpPr>
            <p:cNvPr name="TextBox 8" id="8"/>
            <p:cNvSpPr txBox="true"/>
            <p:nvPr/>
          </p:nvSpPr>
          <p:spPr>
            <a:xfrm>
              <a:off x="0" y="19050"/>
              <a:ext cx="4953000" cy="3950818"/>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01  Municipal traffic authorities &amp; city planners</a:t>
              </a:r>
            </a:p>
          </p:txBody>
        </p:sp>
      </p:grpSp>
      <p:grpSp>
        <p:nvGrpSpPr>
          <p:cNvPr name="Group 9" id="9"/>
          <p:cNvGrpSpPr/>
          <p:nvPr/>
        </p:nvGrpSpPr>
        <p:grpSpPr>
          <a:xfrm rot="0">
            <a:off x="5143500" y="5334000"/>
            <a:ext cx="3714750" cy="2991688"/>
            <a:chOff x="0" y="0"/>
            <a:chExt cx="4953000" cy="3988918"/>
          </a:xfrm>
        </p:grpSpPr>
        <p:sp>
          <p:nvSpPr>
            <p:cNvPr name="Freeform 10" id="10"/>
            <p:cNvSpPr/>
            <p:nvPr/>
          </p:nvSpPr>
          <p:spPr>
            <a:xfrm flipH="false" flipV="false" rot="0">
              <a:off x="0" y="0"/>
              <a:ext cx="4953000" cy="3988943"/>
            </a:xfrm>
            <a:custGeom>
              <a:avLst/>
              <a:gdLst/>
              <a:ahLst/>
              <a:cxnLst/>
              <a:rect r="r" b="b" t="t" l="l"/>
              <a:pathLst>
                <a:path h="3988943" w="4953000">
                  <a:moveTo>
                    <a:pt x="58674" y="0"/>
                  </a:moveTo>
                  <a:lnTo>
                    <a:pt x="4894326" y="0"/>
                  </a:lnTo>
                  <a:cubicBezTo>
                    <a:pt x="4926711" y="0"/>
                    <a:pt x="4953000" y="26289"/>
                    <a:pt x="4953000" y="58674"/>
                  </a:cubicBezTo>
                  <a:lnTo>
                    <a:pt x="4953000" y="3930269"/>
                  </a:lnTo>
                  <a:cubicBezTo>
                    <a:pt x="4953000" y="3962654"/>
                    <a:pt x="4926711" y="3988943"/>
                    <a:pt x="4894326" y="3988943"/>
                  </a:cubicBezTo>
                  <a:lnTo>
                    <a:pt x="58674" y="3988943"/>
                  </a:lnTo>
                  <a:cubicBezTo>
                    <a:pt x="26289" y="3988943"/>
                    <a:pt x="0" y="3962654"/>
                    <a:pt x="0" y="3930269"/>
                  </a:cubicBezTo>
                  <a:lnTo>
                    <a:pt x="0" y="58674"/>
                  </a:lnTo>
                  <a:cubicBezTo>
                    <a:pt x="0" y="26289"/>
                    <a:pt x="26289" y="0"/>
                    <a:pt x="58674" y="0"/>
                  </a:cubicBezTo>
                  <a:close/>
                </a:path>
              </a:pathLst>
            </a:custGeom>
            <a:solidFill>
              <a:srgbClr val="45C4D6"/>
            </a:solidFill>
          </p:spPr>
        </p:sp>
      </p:grpSp>
      <p:grpSp>
        <p:nvGrpSpPr>
          <p:cNvPr name="Group 11" id="11"/>
          <p:cNvGrpSpPr/>
          <p:nvPr/>
        </p:nvGrpSpPr>
        <p:grpSpPr>
          <a:xfrm rot="0">
            <a:off x="5143500" y="5348288"/>
            <a:ext cx="3714750" cy="2977401"/>
            <a:chOff x="0" y="0"/>
            <a:chExt cx="4953000" cy="3969868"/>
          </a:xfrm>
        </p:grpSpPr>
        <p:sp>
          <p:nvSpPr>
            <p:cNvPr name="Freeform 12" id="12"/>
            <p:cNvSpPr/>
            <p:nvPr/>
          </p:nvSpPr>
          <p:spPr>
            <a:xfrm flipH="false" flipV="false" rot="0">
              <a:off x="0" y="0"/>
              <a:ext cx="4953000" cy="3969862"/>
            </a:xfrm>
            <a:custGeom>
              <a:avLst/>
              <a:gdLst/>
              <a:ahLst/>
              <a:cxnLst/>
              <a:rect r="r" b="b" t="t" l="l"/>
              <a:pathLst>
                <a:path h="3969862" w="4953000">
                  <a:moveTo>
                    <a:pt x="0" y="0"/>
                  </a:moveTo>
                  <a:lnTo>
                    <a:pt x="4953000" y="0"/>
                  </a:lnTo>
                  <a:lnTo>
                    <a:pt x="4953000" y="3969862"/>
                  </a:lnTo>
                  <a:lnTo>
                    <a:pt x="0" y="3969862"/>
                  </a:lnTo>
                  <a:close/>
                </a:path>
              </a:pathLst>
            </a:custGeom>
            <a:blipFill>
              <a:blip r:embed="rId2">
                <a:alphaModFix amt="0"/>
              </a:blip>
              <a:stretch>
                <a:fillRect l="-52836" t="0" r="-52836" b="0"/>
              </a:stretch>
            </a:blipFill>
          </p:spPr>
        </p:sp>
        <p:sp>
          <p:nvSpPr>
            <p:cNvPr name="TextBox 13" id="13"/>
            <p:cNvSpPr txBox="true"/>
            <p:nvPr/>
          </p:nvSpPr>
          <p:spPr>
            <a:xfrm>
              <a:off x="0" y="19050"/>
              <a:ext cx="4953000" cy="3950818"/>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02  Traffic control operators &amp; administrators</a:t>
              </a:r>
            </a:p>
          </p:txBody>
        </p:sp>
      </p:grpSp>
      <p:grpSp>
        <p:nvGrpSpPr>
          <p:cNvPr name="Group 14" id="14"/>
          <p:cNvGrpSpPr/>
          <p:nvPr/>
        </p:nvGrpSpPr>
        <p:grpSpPr>
          <a:xfrm rot="0">
            <a:off x="9239250" y="5334000"/>
            <a:ext cx="3714750" cy="2991688"/>
            <a:chOff x="0" y="0"/>
            <a:chExt cx="4953000" cy="3988918"/>
          </a:xfrm>
        </p:grpSpPr>
        <p:sp>
          <p:nvSpPr>
            <p:cNvPr name="Freeform 15" id="15"/>
            <p:cNvSpPr/>
            <p:nvPr/>
          </p:nvSpPr>
          <p:spPr>
            <a:xfrm flipH="false" flipV="false" rot="0">
              <a:off x="0" y="0"/>
              <a:ext cx="4953000" cy="3988943"/>
            </a:xfrm>
            <a:custGeom>
              <a:avLst/>
              <a:gdLst/>
              <a:ahLst/>
              <a:cxnLst/>
              <a:rect r="r" b="b" t="t" l="l"/>
              <a:pathLst>
                <a:path h="3988943" w="4953000">
                  <a:moveTo>
                    <a:pt x="58674" y="0"/>
                  </a:moveTo>
                  <a:lnTo>
                    <a:pt x="4894326" y="0"/>
                  </a:lnTo>
                  <a:cubicBezTo>
                    <a:pt x="4926711" y="0"/>
                    <a:pt x="4953000" y="26289"/>
                    <a:pt x="4953000" y="58674"/>
                  </a:cubicBezTo>
                  <a:lnTo>
                    <a:pt x="4953000" y="3930269"/>
                  </a:lnTo>
                  <a:cubicBezTo>
                    <a:pt x="4953000" y="3962654"/>
                    <a:pt x="4926711" y="3988943"/>
                    <a:pt x="4894326" y="3988943"/>
                  </a:cubicBezTo>
                  <a:lnTo>
                    <a:pt x="58674" y="3988943"/>
                  </a:lnTo>
                  <a:cubicBezTo>
                    <a:pt x="26289" y="3988943"/>
                    <a:pt x="0" y="3962654"/>
                    <a:pt x="0" y="3930269"/>
                  </a:cubicBezTo>
                  <a:lnTo>
                    <a:pt x="0" y="58674"/>
                  </a:lnTo>
                  <a:cubicBezTo>
                    <a:pt x="0" y="26289"/>
                    <a:pt x="26289" y="0"/>
                    <a:pt x="58674" y="0"/>
                  </a:cubicBezTo>
                  <a:close/>
                </a:path>
              </a:pathLst>
            </a:custGeom>
            <a:solidFill>
              <a:srgbClr val="10242B"/>
            </a:solidFill>
          </p:spPr>
        </p:sp>
      </p:grpSp>
      <p:grpSp>
        <p:nvGrpSpPr>
          <p:cNvPr name="Group 16" id="16"/>
          <p:cNvGrpSpPr/>
          <p:nvPr/>
        </p:nvGrpSpPr>
        <p:grpSpPr>
          <a:xfrm rot="0">
            <a:off x="9239250" y="5348288"/>
            <a:ext cx="3714750" cy="2977401"/>
            <a:chOff x="0" y="0"/>
            <a:chExt cx="4953000" cy="3969868"/>
          </a:xfrm>
        </p:grpSpPr>
        <p:sp>
          <p:nvSpPr>
            <p:cNvPr name="Freeform 17" id="17"/>
            <p:cNvSpPr/>
            <p:nvPr/>
          </p:nvSpPr>
          <p:spPr>
            <a:xfrm flipH="false" flipV="false" rot="0">
              <a:off x="0" y="0"/>
              <a:ext cx="4953000" cy="3969862"/>
            </a:xfrm>
            <a:custGeom>
              <a:avLst/>
              <a:gdLst/>
              <a:ahLst/>
              <a:cxnLst/>
              <a:rect r="r" b="b" t="t" l="l"/>
              <a:pathLst>
                <a:path h="3969862" w="4953000">
                  <a:moveTo>
                    <a:pt x="0" y="0"/>
                  </a:moveTo>
                  <a:lnTo>
                    <a:pt x="4953000" y="0"/>
                  </a:lnTo>
                  <a:lnTo>
                    <a:pt x="4953000" y="3969862"/>
                  </a:lnTo>
                  <a:lnTo>
                    <a:pt x="0" y="3969862"/>
                  </a:lnTo>
                  <a:close/>
                </a:path>
              </a:pathLst>
            </a:custGeom>
            <a:blipFill>
              <a:blip r:embed="rId2">
                <a:alphaModFix amt="0"/>
              </a:blip>
              <a:stretch>
                <a:fillRect l="-52836" t="0" r="-52836" b="0"/>
              </a:stretch>
            </a:blipFill>
          </p:spPr>
        </p:sp>
        <p:sp>
          <p:nvSpPr>
            <p:cNvPr name="TextBox 18" id="18"/>
            <p:cNvSpPr txBox="true"/>
            <p:nvPr/>
          </p:nvSpPr>
          <p:spPr>
            <a:xfrm>
              <a:off x="0" y="19050"/>
              <a:ext cx="4953000" cy="3950818"/>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03  Commuters benefiting from improved flow</a:t>
              </a:r>
            </a:p>
          </p:txBody>
        </p:sp>
      </p:grpSp>
      <p:grpSp>
        <p:nvGrpSpPr>
          <p:cNvPr name="Group 19" id="19"/>
          <p:cNvGrpSpPr/>
          <p:nvPr/>
        </p:nvGrpSpPr>
        <p:grpSpPr>
          <a:xfrm rot="0">
            <a:off x="13335000" y="5334000"/>
            <a:ext cx="3714750" cy="2991688"/>
            <a:chOff x="0" y="0"/>
            <a:chExt cx="4953000" cy="3988918"/>
          </a:xfrm>
        </p:grpSpPr>
        <p:sp>
          <p:nvSpPr>
            <p:cNvPr name="Freeform 20" id="20"/>
            <p:cNvSpPr/>
            <p:nvPr/>
          </p:nvSpPr>
          <p:spPr>
            <a:xfrm flipH="false" flipV="false" rot="0">
              <a:off x="0" y="0"/>
              <a:ext cx="4953000" cy="3988943"/>
            </a:xfrm>
            <a:custGeom>
              <a:avLst/>
              <a:gdLst/>
              <a:ahLst/>
              <a:cxnLst/>
              <a:rect r="r" b="b" t="t" l="l"/>
              <a:pathLst>
                <a:path h="3988943" w="4953000">
                  <a:moveTo>
                    <a:pt x="58674" y="0"/>
                  </a:moveTo>
                  <a:lnTo>
                    <a:pt x="4894326" y="0"/>
                  </a:lnTo>
                  <a:cubicBezTo>
                    <a:pt x="4926711" y="0"/>
                    <a:pt x="4953000" y="26289"/>
                    <a:pt x="4953000" y="58674"/>
                  </a:cubicBezTo>
                  <a:lnTo>
                    <a:pt x="4953000" y="3930269"/>
                  </a:lnTo>
                  <a:cubicBezTo>
                    <a:pt x="4953000" y="3962654"/>
                    <a:pt x="4926711" y="3988943"/>
                    <a:pt x="4894326" y="3988943"/>
                  </a:cubicBezTo>
                  <a:lnTo>
                    <a:pt x="58674" y="3988943"/>
                  </a:lnTo>
                  <a:cubicBezTo>
                    <a:pt x="26289" y="3988943"/>
                    <a:pt x="0" y="3962654"/>
                    <a:pt x="0" y="3930269"/>
                  </a:cubicBezTo>
                  <a:lnTo>
                    <a:pt x="0" y="58674"/>
                  </a:lnTo>
                  <a:cubicBezTo>
                    <a:pt x="0" y="26289"/>
                    <a:pt x="26289" y="0"/>
                    <a:pt x="58674" y="0"/>
                  </a:cubicBezTo>
                  <a:close/>
                </a:path>
              </a:pathLst>
            </a:custGeom>
            <a:solidFill>
              <a:srgbClr val="10242B"/>
            </a:solidFill>
          </p:spPr>
        </p:sp>
      </p:grpSp>
      <p:grpSp>
        <p:nvGrpSpPr>
          <p:cNvPr name="Group 21" id="21"/>
          <p:cNvGrpSpPr/>
          <p:nvPr/>
        </p:nvGrpSpPr>
        <p:grpSpPr>
          <a:xfrm rot="0">
            <a:off x="13335000" y="5348288"/>
            <a:ext cx="3714750" cy="2977401"/>
            <a:chOff x="0" y="0"/>
            <a:chExt cx="4953000" cy="3969868"/>
          </a:xfrm>
        </p:grpSpPr>
        <p:sp>
          <p:nvSpPr>
            <p:cNvPr name="Freeform 22" id="22"/>
            <p:cNvSpPr/>
            <p:nvPr/>
          </p:nvSpPr>
          <p:spPr>
            <a:xfrm flipH="false" flipV="false" rot="0">
              <a:off x="0" y="0"/>
              <a:ext cx="4953000" cy="3969862"/>
            </a:xfrm>
            <a:custGeom>
              <a:avLst/>
              <a:gdLst/>
              <a:ahLst/>
              <a:cxnLst/>
              <a:rect r="r" b="b" t="t" l="l"/>
              <a:pathLst>
                <a:path h="3969862" w="4953000">
                  <a:moveTo>
                    <a:pt x="0" y="0"/>
                  </a:moveTo>
                  <a:lnTo>
                    <a:pt x="4953000" y="0"/>
                  </a:lnTo>
                  <a:lnTo>
                    <a:pt x="4953000" y="3969862"/>
                  </a:lnTo>
                  <a:lnTo>
                    <a:pt x="0" y="3969862"/>
                  </a:lnTo>
                  <a:close/>
                </a:path>
              </a:pathLst>
            </a:custGeom>
            <a:blipFill>
              <a:blip r:embed="rId2">
                <a:alphaModFix amt="0"/>
              </a:blip>
              <a:stretch>
                <a:fillRect l="-52836" t="0" r="-52836" b="0"/>
              </a:stretch>
            </a:blipFill>
          </p:spPr>
        </p:sp>
        <p:sp>
          <p:nvSpPr>
            <p:cNvPr name="TextBox 23" id="23"/>
            <p:cNvSpPr txBox="true"/>
            <p:nvPr/>
          </p:nvSpPr>
          <p:spPr>
            <a:xfrm>
              <a:off x="0" y="19050"/>
              <a:ext cx="4953000" cy="3950818"/>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04  Public transport agencies optimizing routes</a:t>
              </a:r>
            </a:p>
          </p:txBody>
        </p:sp>
      </p:grpSp>
      <p:sp>
        <p:nvSpPr>
          <p:cNvPr name="TextBox 24" id="24"/>
          <p:cNvSpPr txBox="true"/>
          <p:nvPr/>
        </p:nvSpPr>
        <p:spPr>
          <a:xfrm rot="0">
            <a:off x="797804" y="902018"/>
            <a:ext cx="10298821" cy="692277"/>
          </a:xfrm>
          <a:prstGeom prst="rect">
            <a:avLst/>
          </a:prstGeom>
        </p:spPr>
        <p:txBody>
          <a:bodyPr anchor="t" rtlCol="false" tIns="0" lIns="0" bIns="0" rIns="0">
            <a:spAutoFit/>
          </a:bodyPr>
          <a:lstStyle/>
          <a:p>
            <a:pPr algn="l">
              <a:lnSpc>
                <a:spcPts val="5814"/>
              </a:lnSpc>
            </a:pPr>
            <a:r>
              <a:rPr lang="en-US" sz="5700" b="true">
                <a:solidFill>
                  <a:srgbClr val="FFFFFF"/>
                </a:solidFill>
                <a:latin typeface="Garet Bold"/>
                <a:ea typeface="Garet Bold"/>
                <a:cs typeface="Garet Bold"/>
                <a:sym typeface="Garet Bold"/>
              </a:rPr>
              <a:t>TARGET USER/ CUSTOMER: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1028700" y="2089023"/>
            <a:ext cx="10477500" cy="673227"/>
          </a:xfrm>
          <a:prstGeom prst="rect">
            <a:avLst/>
          </a:prstGeom>
        </p:spPr>
        <p:txBody>
          <a:bodyPr anchor="t" rtlCol="false" tIns="0" lIns="0" bIns="0" rIns="0">
            <a:spAutoFit/>
          </a:bodyPr>
          <a:lstStyle/>
          <a:p>
            <a:pPr algn="l">
              <a:lnSpc>
                <a:spcPts val="5814"/>
              </a:lnSpc>
            </a:pPr>
            <a:r>
              <a:rPr lang="en-US" sz="5700" b="true">
                <a:solidFill>
                  <a:srgbClr val="10242B"/>
                </a:solidFill>
                <a:latin typeface="League Spartan"/>
                <a:ea typeface="League Spartan"/>
                <a:cs typeface="League Spartan"/>
                <a:sym typeface="League Spartan"/>
              </a:rPr>
              <a:t>From visibility to action</a:t>
            </a:r>
          </a:p>
        </p:txBody>
      </p:sp>
      <p:sp>
        <p:nvSpPr>
          <p:cNvPr name="Freeform 3" id="3"/>
          <p:cNvSpPr/>
          <p:nvPr/>
        </p:nvSpPr>
        <p:spPr>
          <a:xfrm flipH="false" flipV="false" rot="0">
            <a:off x="1028700" y="3312681"/>
            <a:ext cx="16680123" cy="1764421"/>
          </a:xfrm>
          <a:custGeom>
            <a:avLst/>
            <a:gdLst/>
            <a:ahLst/>
            <a:cxnLst/>
            <a:rect r="r" b="b" t="t" l="l"/>
            <a:pathLst>
              <a:path h="1764421" w="16680123">
                <a:moveTo>
                  <a:pt x="0" y="0"/>
                </a:moveTo>
                <a:lnTo>
                  <a:pt x="16680123" y="0"/>
                </a:lnTo>
                <a:lnTo>
                  <a:pt x="16680123" y="1764420"/>
                </a:lnTo>
                <a:lnTo>
                  <a:pt x="0" y="176442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028700" y="5454453"/>
            <a:ext cx="16680123" cy="1764421"/>
          </a:xfrm>
          <a:custGeom>
            <a:avLst/>
            <a:gdLst/>
            <a:ahLst/>
            <a:cxnLst/>
            <a:rect r="r" b="b" t="t" l="l"/>
            <a:pathLst>
              <a:path h="1764421" w="16680123">
                <a:moveTo>
                  <a:pt x="0" y="0"/>
                </a:moveTo>
                <a:lnTo>
                  <a:pt x="16680123" y="0"/>
                </a:lnTo>
                <a:lnTo>
                  <a:pt x="16680123" y="1764421"/>
                </a:lnTo>
                <a:lnTo>
                  <a:pt x="0" y="176442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028700" y="7596235"/>
            <a:ext cx="16680123" cy="1764421"/>
          </a:xfrm>
          <a:custGeom>
            <a:avLst/>
            <a:gdLst/>
            <a:ahLst/>
            <a:cxnLst/>
            <a:rect r="r" b="b" t="t" l="l"/>
            <a:pathLst>
              <a:path h="1764421" w="16680123">
                <a:moveTo>
                  <a:pt x="0" y="0"/>
                </a:moveTo>
                <a:lnTo>
                  <a:pt x="16680123" y="0"/>
                </a:lnTo>
                <a:lnTo>
                  <a:pt x="16680123" y="1764421"/>
                </a:lnTo>
                <a:lnTo>
                  <a:pt x="0" y="176442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372114" y="3624034"/>
            <a:ext cx="4120972" cy="730596"/>
          </a:xfrm>
          <a:prstGeom prst="rect">
            <a:avLst/>
          </a:prstGeom>
        </p:spPr>
        <p:txBody>
          <a:bodyPr anchor="t" rtlCol="false" tIns="0" lIns="0" bIns="0" rIns="0">
            <a:spAutoFit/>
          </a:bodyPr>
          <a:lstStyle/>
          <a:p>
            <a:pPr algn="l">
              <a:lnSpc>
                <a:spcPts val="2780"/>
              </a:lnSpc>
            </a:pPr>
            <a:r>
              <a:rPr lang="en-US" b="true" sz="1986" spc="238">
                <a:solidFill>
                  <a:srgbClr val="10242B"/>
                </a:solidFill>
                <a:latin typeface="DM Sans Bold"/>
                <a:ea typeface="DM Sans Bold"/>
                <a:cs typeface="DM Sans Bold"/>
                <a:sym typeface="DM Sans Bold"/>
              </a:rPr>
              <a:t>ADAPTIVE SIGNAL CONTROL</a:t>
            </a:r>
          </a:p>
        </p:txBody>
      </p:sp>
      <p:sp>
        <p:nvSpPr>
          <p:cNvPr name="TextBox 7" id="7"/>
          <p:cNvSpPr txBox="true"/>
          <p:nvPr/>
        </p:nvSpPr>
        <p:spPr>
          <a:xfrm rot="0">
            <a:off x="6130852" y="3624034"/>
            <a:ext cx="4219089" cy="422767"/>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Strong local optimization</a:t>
            </a:r>
          </a:p>
        </p:txBody>
      </p:sp>
      <p:sp>
        <p:nvSpPr>
          <p:cNvPr name="TextBox 8" id="8"/>
          <p:cNvSpPr txBox="true"/>
          <p:nvPr/>
        </p:nvSpPr>
        <p:spPr>
          <a:xfrm rot="0">
            <a:off x="11134896" y="3624034"/>
            <a:ext cx="5887098" cy="813292"/>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Often hardware-bound and limited in regional visibility</a:t>
            </a:r>
          </a:p>
        </p:txBody>
      </p:sp>
      <p:sp>
        <p:nvSpPr>
          <p:cNvPr name="TextBox 9" id="9"/>
          <p:cNvSpPr txBox="true"/>
          <p:nvPr/>
        </p:nvSpPr>
        <p:spPr>
          <a:xfrm rot="0">
            <a:off x="1372114" y="5765816"/>
            <a:ext cx="4120972" cy="730596"/>
          </a:xfrm>
          <a:prstGeom prst="rect">
            <a:avLst/>
          </a:prstGeom>
        </p:spPr>
        <p:txBody>
          <a:bodyPr anchor="t" rtlCol="false" tIns="0" lIns="0" bIns="0" rIns="0">
            <a:spAutoFit/>
          </a:bodyPr>
          <a:lstStyle/>
          <a:p>
            <a:pPr algn="l">
              <a:lnSpc>
                <a:spcPts val="2780"/>
              </a:lnSpc>
            </a:pPr>
            <a:r>
              <a:rPr lang="en-US" b="true" sz="1986" spc="238">
                <a:solidFill>
                  <a:srgbClr val="10242B"/>
                </a:solidFill>
                <a:latin typeface="DM Sans Bold"/>
                <a:ea typeface="DM Sans Bold"/>
                <a:cs typeface="DM Sans Bold"/>
                <a:sym typeface="DM Sans Bold"/>
              </a:rPr>
              <a:t>REGIONAL TRAFFIC WEBSITES</a:t>
            </a:r>
          </a:p>
        </p:txBody>
      </p:sp>
      <p:sp>
        <p:nvSpPr>
          <p:cNvPr name="TextBox 10" id="10"/>
          <p:cNvSpPr txBox="true"/>
          <p:nvPr/>
        </p:nvSpPr>
        <p:spPr>
          <a:xfrm rot="0">
            <a:off x="6130852" y="5765816"/>
            <a:ext cx="4219089" cy="422767"/>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Broad live monitoring</a:t>
            </a:r>
          </a:p>
        </p:txBody>
      </p:sp>
      <p:sp>
        <p:nvSpPr>
          <p:cNvPr name="TextBox 11" id="11"/>
          <p:cNvSpPr txBox="true"/>
          <p:nvPr/>
        </p:nvSpPr>
        <p:spPr>
          <a:xfrm rot="0">
            <a:off x="11134896" y="5765816"/>
            <a:ext cx="5887098" cy="813292"/>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Limited operator control and fragmented workflows</a:t>
            </a:r>
          </a:p>
        </p:txBody>
      </p:sp>
      <p:sp>
        <p:nvSpPr>
          <p:cNvPr name="TextBox 12" id="12"/>
          <p:cNvSpPr txBox="true"/>
          <p:nvPr/>
        </p:nvSpPr>
        <p:spPr>
          <a:xfrm rot="0">
            <a:off x="1372114" y="7907588"/>
            <a:ext cx="4120972" cy="378171"/>
          </a:xfrm>
          <a:prstGeom prst="rect">
            <a:avLst/>
          </a:prstGeom>
        </p:spPr>
        <p:txBody>
          <a:bodyPr anchor="t" rtlCol="false" tIns="0" lIns="0" bIns="0" rIns="0">
            <a:spAutoFit/>
          </a:bodyPr>
          <a:lstStyle/>
          <a:p>
            <a:pPr algn="l">
              <a:lnSpc>
                <a:spcPts val="2780"/>
              </a:lnSpc>
            </a:pPr>
            <a:r>
              <a:rPr lang="en-US" b="true" sz="1986" spc="238">
                <a:solidFill>
                  <a:srgbClr val="10242B"/>
                </a:solidFill>
                <a:latin typeface="DM Sans Bold"/>
                <a:ea typeface="DM Sans Bold"/>
                <a:cs typeface="DM Sans Bold"/>
                <a:sym typeface="DM Sans Bold"/>
              </a:rPr>
              <a:t>SMARTFLOW</a:t>
            </a:r>
          </a:p>
        </p:txBody>
      </p:sp>
      <p:sp>
        <p:nvSpPr>
          <p:cNvPr name="TextBox 13" id="13"/>
          <p:cNvSpPr txBox="true"/>
          <p:nvPr/>
        </p:nvSpPr>
        <p:spPr>
          <a:xfrm rot="0">
            <a:off x="6130852" y="7907588"/>
            <a:ext cx="4219089" cy="422767"/>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Live tracking + signal control</a:t>
            </a:r>
          </a:p>
        </p:txBody>
      </p:sp>
      <p:sp>
        <p:nvSpPr>
          <p:cNvPr name="TextBox 14" id="14"/>
          <p:cNvSpPr txBox="true"/>
          <p:nvPr/>
        </p:nvSpPr>
        <p:spPr>
          <a:xfrm rot="0">
            <a:off x="11134896" y="7907588"/>
            <a:ext cx="5887098" cy="813292"/>
          </a:xfrm>
          <a:prstGeom prst="rect">
            <a:avLst/>
          </a:prstGeom>
        </p:spPr>
        <p:txBody>
          <a:bodyPr anchor="t" rtlCol="false" tIns="0" lIns="0" bIns="0" rIns="0">
            <a:spAutoFit/>
          </a:bodyPr>
          <a:lstStyle/>
          <a:p>
            <a:pPr algn="l">
              <a:lnSpc>
                <a:spcPts val="3115"/>
              </a:lnSpc>
            </a:pPr>
            <a:r>
              <a:rPr lang="en-US" sz="2307">
                <a:solidFill>
                  <a:srgbClr val="10242B"/>
                </a:solidFill>
                <a:latin typeface="DM Sans"/>
                <a:ea typeface="DM Sans"/>
                <a:cs typeface="DM Sans"/>
                <a:sym typeface="DM Sans"/>
              </a:rPr>
              <a:t>Unified regional view with centralized operator action</a:t>
            </a:r>
          </a:p>
        </p:txBody>
      </p:sp>
      <p:sp>
        <p:nvSpPr>
          <p:cNvPr name="TextBox 15" id="15"/>
          <p:cNvSpPr txBox="true"/>
          <p:nvPr/>
        </p:nvSpPr>
        <p:spPr>
          <a:xfrm rot="0">
            <a:off x="905780" y="630031"/>
            <a:ext cx="14156788" cy="682752"/>
          </a:xfrm>
          <a:prstGeom prst="rect">
            <a:avLst/>
          </a:prstGeom>
        </p:spPr>
        <p:txBody>
          <a:bodyPr anchor="t" rtlCol="false" tIns="0" lIns="0" bIns="0" rIns="0">
            <a:spAutoFit/>
          </a:bodyPr>
          <a:lstStyle/>
          <a:p>
            <a:pPr algn="l">
              <a:lnSpc>
                <a:spcPts val="5814"/>
              </a:lnSpc>
            </a:pPr>
            <a:r>
              <a:rPr lang="en-US" sz="5700" b="true">
                <a:solidFill>
                  <a:srgbClr val="10242B"/>
                </a:solidFill>
                <a:latin typeface="Lora Bold"/>
                <a:ea typeface="Lora Bold"/>
                <a:cs typeface="Lora Bold"/>
                <a:sym typeface="Lora Bold"/>
              </a:rPr>
              <a:t>COMPETITORS/BENCHMARKS: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Freeform 2" id="2"/>
          <p:cNvSpPr/>
          <p:nvPr/>
        </p:nvSpPr>
        <p:spPr>
          <a:xfrm flipH="false" flipV="false" rot="0">
            <a:off x="9620250" y="-28575"/>
            <a:ext cx="8667750" cy="10315575"/>
          </a:xfrm>
          <a:custGeom>
            <a:avLst/>
            <a:gdLst/>
            <a:ahLst/>
            <a:cxnLst/>
            <a:rect r="r" b="b" t="t" l="l"/>
            <a:pathLst>
              <a:path h="10315575" w="8667750">
                <a:moveTo>
                  <a:pt x="0" y="0"/>
                </a:moveTo>
                <a:lnTo>
                  <a:pt x="8667750" y="0"/>
                </a:lnTo>
                <a:lnTo>
                  <a:pt x="8667750" y="10315575"/>
                </a:lnTo>
                <a:lnTo>
                  <a:pt x="0" y="10315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47750" y="1238250"/>
            <a:ext cx="6667500" cy="673227"/>
          </a:xfrm>
          <a:prstGeom prst="rect">
            <a:avLst/>
          </a:prstGeom>
        </p:spPr>
        <p:txBody>
          <a:bodyPr anchor="t" rtlCol="false" tIns="0" lIns="0" bIns="0" rIns="0">
            <a:spAutoFit/>
          </a:bodyPr>
          <a:lstStyle/>
          <a:p>
            <a:pPr algn="l">
              <a:lnSpc>
                <a:spcPts val="5814"/>
              </a:lnSpc>
            </a:pPr>
            <a:r>
              <a:rPr lang="en-US" sz="5700" b="true">
                <a:solidFill>
                  <a:srgbClr val="FFFFFF"/>
                </a:solidFill>
                <a:latin typeface="League Spartan"/>
                <a:ea typeface="League Spartan"/>
                <a:cs typeface="League Spartan"/>
                <a:sym typeface="League Spartan"/>
              </a:rPr>
              <a:t>Risks</a:t>
            </a:r>
          </a:p>
        </p:txBody>
      </p:sp>
      <p:sp>
        <p:nvSpPr>
          <p:cNvPr name="TextBox 4" id="4"/>
          <p:cNvSpPr txBox="true"/>
          <p:nvPr/>
        </p:nvSpPr>
        <p:spPr>
          <a:xfrm rot="0">
            <a:off x="1047750" y="2819400"/>
            <a:ext cx="6858000" cy="2239966"/>
          </a:xfrm>
          <a:prstGeom prst="rect">
            <a:avLst/>
          </a:prstGeom>
        </p:spPr>
        <p:txBody>
          <a:bodyPr anchor="t" rtlCol="false" tIns="0" lIns="0" bIns="0" rIns="0">
            <a:spAutoFit/>
          </a:bodyPr>
          <a:lstStyle/>
          <a:p>
            <a:pPr algn="l">
              <a:lnSpc>
                <a:spcPts val="5686"/>
              </a:lnSpc>
            </a:pPr>
            <a:r>
              <a:rPr lang="en-US" sz="3249">
                <a:solidFill>
                  <a:srgbClr val="FFFFFF"/>
                </a:solidFill>
                <a:latin typeface="DM Sans"/>
                <a:ea typeface="DM Sans"/>
                <a:cs typeface="DM Sans"/>
                <a:sym typeface="DM Sans"/>
              </a:rPr>
              <a:t>Data accuracy &amp; latency</a:t>
            </a:r>
          </a:p>
          <a:p>
            <a:pPr algn="l">
              <a:lnSpc>
                <a:spcPts val="5686"/>
              </a:lnSpc>
            </a:pPr>
            <a:r>
              <a:rPr lang="en-US" sz="3249">
                <a:solidFill>
                  <a:srgbClr val="FFFFFF"/>
                </a:solidFill>
                <a:latin typeface="DM Sans"/>
                <a:ea typeface="DM Sans"/>
                <a:cs typeface="DM Sans"/>
                <a:sym typeface="DM Sans"/>
              </a:rPr>
              <a:t>System integration challenges</a:t>
            </a:r>
          </a:p>
          <a:p>
            <a:pPr algn="l">
              <a:lnSpc>
                <a:spcPts val="5686"/>
              </a:lnSpc>
            </a:pPr>
            <a:r>
              <a:rPr lang="en-US" sz="3249">
                <a:solidFill>
                  <a:srgbClr val="FFFFFF"/>
                </a:solidFill>
                <a:latin typeface="DM Sans"/>
                <a:ea typeface="DM Sans"/>
                <a:cs typeface="DM Sans"/>
                <a:sym typeface="DM Sans"/>
              </a:rPr>
              <a:t>User adoption hurdles</a:t>
            </a:r>
          </a:p>
        </p:txBody>
      </p:sp>
      <p:sp>
        <p:nvSpPr>
          <p:cNvPr name="TextBox 5" id="5"/>
          <p:cNvSpPr txBox="true"/>
          <p:nvPr/>
        </p:nvSpPr>
        <p:spPr>
          <a:xfrm rot="0">
            <a:off x="10477500" y="1295400"/>
            <a:ext cx="6191250" cy="621411"/>
          </a:xfrm>
          <a:prstGeom prst="rect">
            <a:avLst/>
          </a:prstGeom>
        </p:spPr>
        <p:txBody>
          <a:bodyPr anchor="t" rtlCol="false" tIns="0" lIns="0" bIns="0" rIns="0">
            <a:spAutoFit/>
          </a:bodyPr>
          <a:lstStyle/>
          <a:p>
            <a:pPr algn="l">
              <a:lnSpc>
                <a:spcPts val="5202"/>
              </a:lnSpc>
            </a:pPr>
            <a:r>
              <a:rPr lang="en-US" sz="5100" b="true">
                <a:solidFill>
                  <a:srgbClr val="10242B"/>
                </a:solidFill>
                <a:latin typeface="League Spartan"/>
                <a:ea typeface="League Spartan"/>
                <a:cs typeface="League Spartan"/>
                <a:sym typeface="League Spartan"/>
              </a:rPr>
              <a:t>The market gap</a:t>
            </a:r>
          </a:p>
        </p:txBody>
      </p:sp>
      <p:sp>
        <p:nvSpPr>
          <p:cNvPr name="TextBox 6" id="6"/>
          <p:cNvSpPr txBox="true"/>
          <p:nvPr/>
        </p:nvSpPr>
        <p:spPr>
          <a:xfrm rot="0">
            <a:off x="10477500" y="3333750"/>
            <a:ext cx="6191250" cy="2094548"/>
          </a:xfrm>
          <a:prstGeom prst="rect">
            <a:avLst/>
          </a:prstGeom>
        </p:spPr>
        <p:txBody>
          <a:bodyPr anchor="t" rtlCol="false" tIns="0" lIns="0" bIns="0" rIns="0">
            <a:spAutoFit/>
          </a:bodyPr>
          <a:lstStyle/>
          <a:p>
            <a:pPr algn="l">
              <a:lnSpc>
                <a:spcPts val="4117"/>
              </a:lnSpc>
            </a:pPr>
            <a:r>
              <a:rPr lang="en-US" sz="3048">
                <a:solidFill>
                  <a:srgbClr val="10242B"/>
                </a:solidFill>
                <a:latin typeface="DM Sans"/>
                <a:ea typeface="DM Sans"/>
                <a:cs typeface="DM Sans"/>
                <a:sym typeface="DM Sans"/>
              </a:rPr>
              <a:t>No unified platform combines live regional traffic monitoring with signal control. Operators need a scalable, user-friendly interface.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1095375" y="2379164"/>
            <a:ext cx="8096250" cy="1406652"/>
          </a:xfrm>
          <a:prstGeom prst="rect">
            <a:avLst/>
          </a:prstGeom>
        </p:spPr>
        <p:txBody>
          <a:bodyPr anchor="t" rtlCol="false" tIns="0" lIns="0" bIns="0" rIns="0">
            <a:spAutoFit/>
          </a:bodyPr>
          <a:lstStyle/>
          <a:p>
            <a:pPr algn="l">
              <a:lnSpc>
                <a:spcPts val="5814"/>
              </a:lnSpc>
            </a:pPr>
            <a:r>
              <a:rPr lang="en-US" sz="5700" b="true">
                <a:solidFill>
                  <a:srgbClr val="10242B"/>
                </a:solidFill>
                <a:latin typeface="League Spartan"/>
                <a:ea typeface="League Spartan"/>
                <a:cs typeface="League Spartan"/>
                <a:sym typeface="League Spartan"/>
              </a:rPr>
              <a:t>See the city.</a:t>
            </a:r>
          </a:p>
          <a:p>
            <a:pPr algn="l">
              <a:lnSpc>
                <a:spcPts val="5814"/>
              </a:lnSpc>
            </a:pPr>
            <a:r>
              <a:rPr lang="en-US" sz="5700" b="true">
                <a:solidFill>
                  <a:srgbClr val="10242B"/>
                </a:solidFill>
                <a:latin typeface="League Spartan"/>
                <a:ea typeface="League Spartan"/>
                <a:cs typeface="League Spartan"/>
                <a:sym typeface="League Spartan"/>
              </a:rPr>
              <a:t>Change the flow.</a:t>
            </a:r>
          </a:p>
        </p:txBody>
      </p:sp>
      <p:sp>
        <p:nvSpPr>
          <p:cNvPr name="TextBox 3" id="3"/>
          <p:cNvSpPr txBox="true"/>
          <p:nvPr/>
        </p:nvSpPr>
        <p:spPr>
          <a:xfrm rot="0">
            <a:off x="10529402" y="2328329"/>
            <a:ext cx="6191250" cy="902970"/>
          </a:xfrm>
          <a:prstGeom prst="rect">
            <a:avLst/>
          </a:prstGeom>
        </p:spPr>
        <p:txBody>
          <a:bodyPr anchor="t" rtlCol="false" tIns="0" lIns="0" bIns="0" rIns="0">
            <a:spAutoFit/>
          </a:bodyPr>
          <a:lstStyle/>
          <a:p>
            <a:pPr algn="l">
              <a:lnSpc>
                <a:spcPts val="3508"/>
              </a:lnSpc>
            </a:pPr>
            <a:r>
              <a:rPr lang="en-US" sz="2598">
                <a:solidFill>
                  <a:srgbClr val="10242B"/>
                </a:solidFill>
                <a:latin typeface="DM Sans"/>
                <a:ea typeface="DM Sans"/>
                <a:cs typeface="DM Sans"/>
                <a:sym typeface="DM Sans"/>
              </a:rPr>
              <a:t>A unified website platform for live traffic visibility and operator control.</a:t>
            </a:r>
          </a:p>
        </p:txBody>
      </p:sp>
      <p:sp>
        <p:nvSpPr>
          <p:cNvPr name="TextBox 4" id="4"/>
          <p:cNvSpPr txBox="true"/>
          <p:nvPr/>
        </p:nvSpPr>
        <p:spPr>
          <a:xfrm rot="0">
            <a:off x="1047750" y="8477250"/>
            <a:ext cx="14287500" cy="535305"/>
          </a:xfrm>
          <a:prstGeom prst="rect">
            <a:avLst/>
          </a:prstGeom>
        </p:spPr>
        <p:txBody>
          <a:bodyPr anchor="t" rtlCol="false" tIns="0" lIns="0" bIns="0" rIns="0">
            <a:spAutoFit/>
          </a:bodyPr>
          <a:lstStyle/>
          <a:p>
            <a:pPr algn="l">
              <a:lnSpc>
                <a:spcPts val="3913"/>
              </a:lnSpc>
            </a:pPr>
            <a:r>
              <a:rPr lang="en-US" sz="2898" i="true">
                <a:solidFill>
                  <a:srgbClr val="10242B"/>
                </a:solidFill>
                <a:latin typeface="DM Sans Italics"/>
                <a:ea typeface="DM Sans Italics"/>
                <a:cs typeface="DM Sans Italics"/>
                <a:sym typeface="DM Sans Italics"/>
              </a:rPr>
              <a:t>Intuitive dashboards make congestion visible — and action immediate.</a:t>
            </a:r>
          </a:p>
        </p:txBody>
      </p:sp>
      <p:grpSp>
        <p:nvGrpSpPr>
          <p:cNvPr name="Group 5" id="5"/>
          <p:cNvGrpSpPr/>
          <p:nvPr/>
        </p:nvGrpSpPr>
        <p:grpSpPr>
          <a:xfrm rot="0">
            <a:off x="1047750" y="4762500"/>
            <a:ext cx="3524250" cy="2776156"/>
            <a:chOff x="0" y="0"/>
            <a:chExt cx="4699000" cy="3701542"/>
          </a:xfrm>
        </p:grpSpPr>
        <p:sp>
          <p:nvSpPr>
            <p:cNvPr name="Freeform 6" id="6"/>
            <p:cNvSpPr/>
            <p:nvPr/>
          </p:nvSpPr>
          <p:spPr>
            <a:xfrm flipH="false" flipV="false" rot="0">
              <a:off x="0" y="0"/>
              <a:ext cx="4699000" cy="3701415"/>
            </a:xfrm>
            <a:custGeom>
              <a:avLst/>
              <a:gdLst/>
              <a:ahLst/>
              <a:cxnLst/>
              <a:rect r="r" b="b" t="t" l="l"/>
              <a:pathLst>
                <a:path h="3701415" w="4699000">
                  <a:moveTo>
                    <a:pt x="61722" y="0"/>
                  </a:moveTo>
                  <a:lnTo>
                    <a:pt x="4637278" y="0"/>
                  </a:lnTo>
                  <a:cubicBezTo>
                    <a:pt x="4653661" y="0"/>
                    <a:pt x="4669409" y="6477"/>
                    <a:pt x="4680966" y="18034"/>
                  </a:cubicBezTo>
                  <a:cubicBezTo>
                    <a:pt x="4692523" y="29591"/>
                    <a:pt x="4699000" y="45339"/>
                    <a:pt x="4699000" y="61722"/>
                  </a:cubicBezTo>
                  <a:lnTo>
                    <a:pt x="4699000" y="3639693"/>
                  </a:lnTo>
                  <a:cubicBezTo>
                    <a:pt x="4699000" y="3656076"/>
                    <a:pt x="4692523" y="3671824"/>
                    <a:pt x="4680966" y="3683381"/>
                  </a:cubicBezTo>
                  <a:cubicBezTo>
                    <a:pt x="4669409" y="3694938"/>
                    <a:pt x="4653661" y="3701415"/>
                    <a:pt x="4637278" y="3701415"/>
                  </a:cubicBezTo>
                  <a:lnTo>
                    <a:pt x="61722" y="3701415"/>
                  </a:lnTo>
                  <a:cubicBezTo>
                    <a:pt x="45339" y="3701415"/>
                    <a:pt x="29591" y="3694938"/>
                    <a:pt x="18034" y="3683381"/>
                  </a:cubicBezTo>
                  <a:cubicBezTo>
                    <a:pt x="6477" y="3671824"/>
                    <a:pt x="0" y="3656203"/>
                    <a:pt x="0" y="3639693"/>
                  </a:cubicBezTo>
                  <a:lnTo>
                    <a:pt x="0" y="61722"/>
                  </a:lnTo>
                  <a:cubicBezTo>
                    <a:pt x="0" y="45339"/>
                    <a:pt x="6477" y="29718"/>
                    <a:pt x="18034" y="18034"/>
                  </a:cubicBezTo>
                  <a:cubicBezTo>
                    <a:pt x="29591" y="6350"/>
                    <a:pt x="45339" y="0"/>
                    <a:pt x="61722" y="0"/>
                  </a:cubicBezTo>
                  <a:close/>
                </a:path>
              </a:pathLst>
            </a:custGeom>
            <a:solidFill>
              <a:srgbClr val="10242B"/>
            </a:solidFill>
          </p:spPr>
        </p:sp>
      </p:grpSp>
      <p:grpSp>
        <p:nvGrpSpPr>
          <p:cNvPr name="Group 7" id="7"/>
          <p:cNvGrpSpPr/>
          <p:nvPr/>
        </p:nvGrpSpPr>
        <p:grpSpPr>
          <a:xfrm rot="0">
            <a:off x="1047750" y="4776788"/>
            <a:ext cx="3524250" cy="2761869"/>
            <a:chOff x="0" y="0"/>
            <a:chExt cx="4699000" cy="3682492"/>
          </a:xfrm>
        </p:grpSpPr>
        <p:sp>
          <p:nvSpPr>
            <p:cNvPr name="Freeform 8" id="8"/>
            <p:cNvSpPr/>
            <p:nvPr/>
          </p:nvSpPr>
          <p:spPr>
            <a:xfrm flipH="false" flipV="false" rot="0">
              <a:off x="0" y="0"/>
              <a:ext cx="4699000" cy="3682490"/>
            </a:xfrm>
            <a:custGeom>
              <a:avLst/>
              <a:gdLst/>
              <a:ahLst/>
              <a:cxnLst/>
              <a:rect r="r" b="b" t="t" l="l"/>
              <a:pathLst>
                <a:path h="3682490" w="4699000">
                  <a:moveTo>
                    <a:pt x="0" y="0"/>
                  </a:moveTo>
                  <a:lnTo>
                    <a:pt x="4699000" y="0"/>
                  </a:lnTo>
                  <a:lnTo>
                    <a:pt x="4699000" y="3682490"/>
                  </a:lnTo>
                  <a:lnTo>
                    <a:pt x="0" y="3682490"/>
                  </a:lnTo>
                  <a:close/>
                </a:path>
              </a:pathLst>
            </a:custGeom>
            <a:blipFill>
              <a:blip r:embed="rId2">
                <a:alphaModFix amt="0"/>
              </a:blip>
              <a:stretch>
                <a:fillRect l="-50548" t="0" r="-50548" b="0"/>
              </a:stretch>
            </a:blipFill>
          </p:spPr>
        </p:sp>
        <p:sp>
          <p:nvSpPr>
            <p:cNvPr name="TextBox 9" id="9"/>
            <p:cNvSpPr txBox="true"/>
            <p:nvPr/>
          </p:nvSpPr>
          <p:spPr>
            <a:xfrm>
              <a:off x="0" y="19050"/>
              <a:ext cx="4699000" cy="3663442"/>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1  SELECT</a:t>
              </a:r>
            </a:p>
            <a:p>
              <a:pPr algn="ctr">
                <a:lnSpc>
                  <a:spcPts val="2528"/>
                </a:lnSpc>
              </a:pPr>
              <a:r>
                <a:rPr lang="en-US" sz="2298" b="true">
                  <a:solidFill>
                    <a:srgbClr val="FFFFFF"/>
                  </a:solidFill>
                  <a:latin typeface="DM Sans Bold"/>
                  <a:ea typeface="DM Sans Bold"/>
                  <a:cs typeface="DM Sans Bold"/>
                  <a:sym typeface="DM Sans Bold"/>
                </a:rPr>
                <a:t>Region selection</a:t>
              </a:r>
            </a:p>
          </p:txBody>
        </p:sp>
      </p:grpSp>
      <p:sp>
        <p:nvSpPr>
          <p:cNvPr name="AutoShape 10" id="10"/>
          <p:cNvSpPr/>
          <p:nvPr/>
        </p:nvSpPr>
        <p:spPr>
          <a:xfrm rot="311640">
            <a:off x="4547111" y="6131528"/>
            <a:ext cx="526037" cy="0"/>
          </a:xfrm>
          <a:prstGeom prst="line">
            <a:avLst/>
          </a:prstGeom>
          <a:ln cap="rnd" w="38100">
            <a:solidFill>
              <a:srgbClr val="B8E34A"/>
            </a:solidFill>
            <a:prstDash val="solid"/>
            <a:headEnd type="none" len="sm" w="sm"/>
            <a:tailEnd type="none" len="sm" w="sm"/>
          </a:ln>
        </p:spPr>
      </p:sp>
      <p:grpSp>
        <p:nvGrpSpPr>
          <p:cNvPr name="Group 11" id="11"/>
          <p:cNvGrpSpPr/>
          <p:nvPr/>
        </p:nvGrpSpPr>
        <p:grpSpPr>
          <a:xfrm rot="0">
            <a:off x="5143500" y="4762500"/>
            <a:ext cx="3524250" cy="2776156"/>
            <a:chOff x="0" y="0"/>
            <a:chExt cx="4699000" cy="3701542"/>
          </a:xfrm>
        </p:grpSpPr>
        <p:sp>
          <p:nvSpPr>
            <p:cNvPr name="Freeform 12" id="12"/>
            <p:cNvSpPr/>
            <p:nvPr/>
          </p:nvSpPr>
          <p:spPr>
            <a:xfrm flipH="false" flipV="false" rot="0">
              <a:off x="0" y="0"/>
              <a:ext cx="4699000" cy="3701415"/>
            </a:xfrm>
            <a:custGeom>
              <a:avLst/>
              <a:gdLst/>
              <a:ahLst/>
              <a:cxnLst/>
              <a:rect r="r" b="b" t="t" l="l"/>
              <a:pathLst>
                <a:path h="3701415" w="4699000">
                  <a:moveTo>
                    <a:pt x="61722" y="0"/>
                  </a:moveTo>
                  <a:lnTo>
                    <a:pt x="4637278" y="0"/>
                  </a:lnTo>
                  <a:cubicBezTo>
                    <a:pt x="4653661" y="0"/>
                    <a:pt x="4669409" y="6477"/>
                    <a:pt x="4680966" y="18034"/>
                  </a:cubicBezTo>
                  <a:cubicBezTo>
                    <a:pt x="4692523" y="29591"/>
                    <a:pt x="4699000" y="45339"/>
                    <a:pt x="4699000" y="61722"/>
                  </a:cubicBezTo>
                  <a:lnTo>
                    <a:pt x="4699000" y="3639693"/>
                  </a:lnTo>
                  <a:cubicBezTo>
                    <a:pt x="4699000" y="3656076"/>
                    <a:pt x="4692523" y="3671824"/>
                    <a:pt x="4680966" y="3683381"/>
                  </a:cubicBezTo>
                  <a:cubicBezTo>
                    <a:pt x="4669409" y="3694938"/>
                    <a:pt x="4653661" y="3701415"/>
                    <a:pt x="4637278" y="3701415"/>
                  </a:cubicBezTo>
                  <a:lnTo>
                    <a:pt x="61722" y="3701415"/>
                  </a:lnTo>
                  <a:cubicBezTo>
                    <a:pt x="45339" y="3701415"/>
                    <a:pt x="29591" y="3694938"/>
                    <a:pt x="18034" y="3683381"/>
                  </a:cubicBezTo>
                  <a:cubicBezTo>
                    <a:pt x="6477" y="3671824"/>
                    <a:pt x="0" y="3656203"/>
                    <a:pt x="0" y="3639693"/>
                  </a:cubicBezTo>
                  <a:lnTo>
                    <a:pt x="0" y="61722"/>
                  </a:lnTo>
                  <a:cubicBezTo>
                    <a:pt x="0" y="45339"/>
                    <a:pt x="6477" y="29718"/>
                    <a:pt x="18034" y="18034"/>
                  </a:cubicBezTo>
                  <a:cubicBezTo>
                    <a:pt x="29591" y="6350"/>
                    <a:pt x="45339" y="0"/>
                    <a:pt x="61722" y="0"/>
                  </a:cubicBezTo>
                  <a:close/>
                </a:path>
              </a:pathLst>
            </a:custGeom>
            <a:solidFill>
              <a:srgbClr val="10242B"/>
            </a:solidFill>
          </p:spPr>
        </p:sp>
      </p:grpSp>
      <p:grpSp>
        <p:nvGrpSpPr>
          <p:cNvPr name="Group 13" id="13"/>
          <p:cNvGrpSpPr/>
          <p:nvPr/>
        </p:nvGrpSpPr>
        <p:grpSpPr>
          <a:xfrm rot="0">
            <a:off x="5143500" y="4776788"/>
            <a:ext cx="3524250" cy="2761869"/>
            <a:chOff x="0" y="0"/>
            <a:chExt cx="4699000" cy="3682492"/>
          </a:xfrm>
        </p:grpSpPr>
        <p:sp>
          <p:nvSpPr>
            <p:cNvPr name="Freeform 14" id="14"/>
            <p:cNvSpPr/>
            <p:nvPr/>
          </p:nvSpPr>
          <p:spPr>
            <a:xfrm flipH="false" flipV="false" rot="0">
              <a:off x="0" y="0"/>
              <a:ext cx="4699000" cy="3682490"/>
            </a:xfrm>
            <a:custGeom>
              <a:avLst/>
              <a:gdLst/>
              <a:ahLst/>
              <a:cxnLst/>
              <a:rect r="r" b="b" t="t" l="l"/>
              <a:pathLst>
                <a:path h="3682490" w="4699000">
                  <a:moveTo>
                    <a:pt x="0" y="0"/>
                  </a:moveTo>
                  <a:lnTo>
                    <a:pt x="4699000" y="0"/>
                  </a:lnTo>
                  <a:lnTo>
                    <a:pt x="4699000" y="3682490"/>
                  </a:lnTo>
                  <a:lnTo>
                    <a:pt x="0" y="3682490"/>
                  </a:lnTo>
                  <a:close/>
                </a:path>
              </a:pathLst>
            </a:custGeom>
            <a:blipFill>
              <a:blip r:embed="rId2">
                <a:alphaModFix amt="0"/>
              </a:blip>
              <a:stretch>
                <a:fillRect l="-50548" t="0" r="-50548" b="0"/>
              </a:stretch>
            </a:blipFill>
          </p:spPr>
        </p:sp>
        <p:sp>
          <p:nvSpPr>
            <p:cNvPr name="TextBox 15" id="15"/>
            <p:cNvSpPr txBox="true"/>
            <p:nvPr/>
          </p:nvSpPr>
          <p:spPr>
            <a:xfrm>
              <a:off x="0" y="19050"/>
              <a:ext cx="4699000" cy="3663442"/>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2  MONITOR</a:t>
              </a:r>
            </a:p>
            <a:p>
              <a:pPr algn="ctr">
                <a:lnSpc>
                  <a:spcPts val="2528"/>
                </a:lnSpc>
              </a:pPr>
              <a:r>
                <a:rPr lang="en-US" sz="2298" b="true">
                  <a:solidFill>
                    <a:srgbClr val="FFFFFF"/>
                  </a:solidFill>
                  <a:latin typeface="DM Sans Bold"/>
                  <a:ea typeface="DM Sans Bold"/>
                  <a:cs typeface="DM Sans Bold"/>
                  <a:sym typeface="DM Sans Bold"/>
                </a:rPr>
                <a:t>Live traffic status</a:t>
              </a:r>
            </a:p>
          </p:txBody>
        </p:sp>
      </p:grpSp>
      <p:sp>
        <p:nvSpPr>
          <p:cNvPr name="AutoShape 16" id="16"/>
          <p:cNvSpPr/>
          <p:nvPr/>
        </p:nvSpPr>
        <p:spPr>
          <a:xfrm rot="311640">
            <a:off x="8642861" y="6131528"/>
            <a:ext cx="526037" cy="0"/>
          </a:xfrm>
          <a:prstGeom prst="line">
            <a:avLst/>
          </a:prstGeom>
          <a:ln cap="rnd" w="38100">
            <a:solidFill>
              <a:srgbClr val="B8E34A"/>
            </a:solidFill>
            <a:prstDash val="solid"/>
            <a:headEnd type="none" len="sm" w="sm"/>
            <a:tailEnd type="none" len="sm" w="sm"/>
          </a:ln>
        </p:spPr>
      </p:sp>
      <p:grpSp>
        <p:nvGrpSpPr>
          <p:cNvPr name="Group 17" id="17"/>
          <p:cNvGrpSpPr/>
          <p:nvPr/>
        </p:nvGrpSpPr>
        <p:grpSpPr>
          <a:xfrm rot="0">
            <a:off x="9239250" y="4762500"/>
            <a:ext cx="3524250" cy="2776156"/>
            <a:chOff x="0" y="0"/>
            <a:chExt cx="4699000" cy="3701542"/>
          </a:xfrm>
        </p:grpSpPr>
        <p:sp>
          <p:nvSpPr>
            <p:cNvPr name="Freeform 18" id="18"/>
            <p:cNvSpPr/>
            <p:nvPr/>
          </p:nvSpPr>
          <p:spPr>
            <a:xfrm flipH="false" flipV="false" rot="0">
              <a:off x="0" y="0"/>
              <a:ext cx="4699000" cy="3701415"/>
            </a:xfrm>
            <a:custGeom>
              <a:avLst/>
              <a:gdLst/>
              <a:ahLst/>
              <a:cxnLst/>
              <a:rect r="r" b="b" t="t" l="l"/>
              <a:pathLst>
                <a:path h="3701415" w="4699000">
                  <a:moveTo>
                    <a:pt x="61722" y="0"/>
                  </a:moveTo>
                  <a:lnTo>
                    <a:pt x="4637278" y="0"/>
                  </a:lnTo>
                  <a:cubicBezTo>
                    <a:pt x="4653661" y="0"/>
                    <a:pt x="4669409" y="6477"/>
                    <a:pt x="4680966" y="18034"/>
                  </a:cubicBezTo>
                  <a:cubicBezTo>
                    <a:pt x="4692523" y="29591"/>
                    <a:pt x="4699000" y="45339"/>
                    <a:pt x="4699000" y="61722"/>
                  </a:cubicBezTo>
                  <a:lnTo>
                    <a:pt x="4699000" y="3639693"/>
                  </a:lnTo>
                  <a:cubicBezTo>
                    <a:pt x="4699000" y="3656076"/>
                    <a:pt x="4692523" y="3671824"/>
                    <a:pt x="4680966" y="3683381"/>
                  </a:cubicBezTo>
                  <a:cubicBezTo>
                    <a:pt x="4669409" y="3694938"/>
                    <a:pt x="4653661" y="3701415"/>
                    <a:pt x="4637278" y="3701415"/>
                  </a:cubicBezTo>
                  <a:lnTo>
                    <a:pt x="61722" y="3701415"/>
                  </a:lnTo>
                  <a:cubicBezTo>
                    <a:pt x="45339" y="3701415"/>
                    <a:pt x="29591" y="3694938"/>
                    <a:pt x="18034" y="3683381"/>
                  </a:cubicBezTo>
                  <a:cubicBezTo>
                    <a:pt x="6477" y="3671824"/>
                    <a:pt x="0" y="3656203"/>
                    <a:pt x="0" y="3639693"/>
                  </a:cubicBezTo>
                  <a:lnTo>
                    <a:pt x="0" y="61722"/>
                  </a:lnTo>
                  <a:cubicBezTo>
                    <a:pt x="0" y="45339"/>
                    <a:pt x="6477" y="29718"/>
                    <a:pt x="18034" y="18034"/>
                  </a:cubicBezTo>
                  <a:cubicBezTo>
                    <a:pt x="29591" y="6350"/>
                    <a:pt x="45339" y="0"/>
                    <a:pt x="61722" y="0"/>
                  </a:cubicBezTo>
                  <a:close/>
                </a:path>
              </a:pathLst>
            </a:custGeom>
            <a:solidFill>
              <a:srgbClr val="45C4D6"/>
            </a:solidFill>
          </p:spPr>
        </p:sp>
      </p:grpSp>
      <p:grpSp>
        <p:nvGrpSpPr>
          <p:cNvPr name="Group 19" id="19"/>
          <p:cNvGrpSpPr/>
          <p:nvPr/>
        </p:nvGrpSpPr>
        <p:grpSpPr>
          <a:xfrm rot="0">
            <a:off x="9239250" y="4776788"/>
            <a:ext cx="3524250" cy="2761869"/>
            <a:chOff x="0" y="0"/>
            <a:chExt cx="4699000" cy="3682492"/>
          </a:xfrm>
        </p:grpSpPr>
        <p:sp>
          <p:nvSpPr>
            <p:cNvPr name="Freeform 20" id="20"/>
            <p:cNvSpPr/>
            <p:nvPr/>
          </p:nvSpPr>
          <p:spPr>
            <a:xfrm flipH="false" flipV="false" rot="0">
              <a:off x="0" y="0"/>
              <a:ext cx="4699000" cy="3682490"/>
            </a:xfrm>
            <a:custGeom>
              <a:avLst/>
              <a:gdLst/>
              <a:ahLst/>
              <a:cxnLst/>
              <a:rect r="r" b="b" t="t" l="l"/>
              <a:pathLst>
                <a:path h="3682490" w="4699000">
                  <a:moveTo>
                    <a:pt x="0" y="0"/>
                  </a:moveTo>
                  <a:lnTo>
                    <a:pt x="4699000" y="0"/>
                  </a:lnTo>
                  <a:lnTo>
                    <a:pt x="4699000" y="3682490"/>
                  </a:lnTo>
                  <a:lnTo>
                    <a:pt x="0" y="3682490"/>
                  </a:lnTo>
                  <a:close/>
                </a:path>
              </a:pathLst>
            </a:custGeom>
            <a:blipFill>
              <a:blip r:embed="rId2">
                <a:alphaModFix amt="0"/>
              </a:blip>
              <a:stretch>
                <a:fillRect l="-50548" t="0" r="-50548" b="0"/>
              </a:stretch>
            </a:blipFill>
          </p:spPr>
        </p:sp>
        <p:sp>
          <p:nvSpPr>
            <p:cNvPr name="TextBox 21" id="21"/>
            <p:cNvSpPr txBox="true"/>
            <p:nvPr/>
          </p:nvSpPr>
          <p:spPr>
            <a:xfrm>
              <a:off x="0" y="19050"/>
              <a:ext cx="4699000" cy="3663442"/>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3  OPTIMIZE</a:t>
              </a:r>
            </a:p>
            <a:p>
              <a:pPr algn="ctr">
                <a:lnSpc>
                  <a:spcPts val="2528"/>
                </a:lnSpc>
              </a:pPr>
              <a:r>
                <a:rPr lang="en-US" sz="2298" b="true">
                  <a:solidFill>
                    <a:srgbClr val="FFFFFF"/>
                  </a:solidFill>
                  <a:latin typeface="DM Sans Bold"/>
                  <a:ea typeface="DM Sans Bold"/>
                  <a:cs typeface="DM Sans Bold"/>
                  <a:sym typeface="DM Sans Bold"/>
                </a:rPr>
                <a:t>Real-time signal control</a:t>
              </a:r>
            </a:p>
          </p:txBody>
        </p:sp>
      </p:grpSp>
      <p:sp>
        <p:nvSpPr>
          <p:cNvPr name="AutoShape 22" id="22"/>
          <p:cNvSpPr/>
          <p:nvPr/>
        </p:nvSpPr>
        <p:spPr>
          <a:xfrm rot="311640">
            <a:off x="12738611" y="6131528"/>
            <a:ext cx="526037" cy="0"/>
          </a:xfrm>
          <a:prstGeom prst="line">
            <a:avLst/>
          </a:prstGeom>
          <a:ln cap="rnd" w="38100">
            <a:solidFill>
              <a:srgbClr val="B8E34A"/>
            </a:solidFill>
            <a:prstDash val="solid"/>
            <a:headEnd type="none" len="sm" w="sm"/>
            <a:tailEnd type="none" len="sm" w="sm"/>
          </a:ln>
        </p:spPr>
      </p:sp>
      <p:grpSp>
        <p:nvGrpSpPr>
          <p:cNvPr name="Group 23" id="23"/>
          <p:cNvGrpSpPr/>
          <p:nvPr/>
        </p:nvGrpSpPr>
        <p:grpSpPr>
          <a:xfrm rot="0">
            <a:off x="13335000" y="4762500"/>
            <a:ext cx="3524250" cy="2776156"/>
            <a:chOff x="0" y="0"/>
            <a:chExt cx="4699000" cy="3701542"/>
          </a:xfrm>
        </p:grpSpPr>
        <p:sp>
          <p:nvSpPr>
            <p:cNvPr name="Freeform 24" id="24"/>
            <p:cNvSpPr/>
            <p:nvPr/>
          </p:nvSpPr>
          <p:spPr>
            <a:xfrm flipH="false" flipV="false" rot="0">
              <a:off x="0" y="0"/>
              <a:ext cx="4699000" cy="3701415"/>
            </a:xfrm>
            <a:custGeom>
              <a:avLst/>
              <a:gdLst/>
              <a:ahLst/>
              <a:cxnLst/>
              <a:rect r="r" b="b" t="t" l="l"/>
              <a:pathLst>
                <a:path h="3701415" w="4699000">
                  <a:moveTo>
                    <a:pt x="61722" y="0"/>
                  </a:moveTo>
                  <a:lnTo>
                    <a:pt x="4637278" y="0"/>
                  </a:lnTo>
                  <a:cubicBezTo>
                    <a:pt x="4653661" y="0"/>
                    <a:pt x="4669409" y="6477"/>
                    <a:pt x="4680966" y="18034"/>
                  </a:cubicBezTo>
                  <a:cubicBezTo>
                    <a:pt x="4692523" y="29591"/>
                    <a:pt x="4699000" y="45339"/>
                    <a:pt x="4699000" y="61722"/>
                  </a:cubicBezTo>
                  <a:lnTo>
                    <a:pt x="4699000" y="3639693"/>
                  </a:lnTo>
                  <a:cubicBezTo>
                    <a:pt x="4699000" y="3656076"/>
                    <a:pt x="4692523" y="3671824"/>
                    <a:pt x="4680966" y="3683381"/>
                  </a:cubicBezTo>
                  <a:cubicBezTo>
                    <a:pt x="4669409" y="3694938"/>
                    <a:pt x="4653661" y="3701415"/>
                    <a:pt x="4637278" y="3701415"/>
                  </a:cubicBezTo>
                  <a:lnTo>
                    <a:pt x="61722" y="3701415"/>
                  </a:lnTo>
                  <a:cubicBezTo>
                    <a:pt x="45339" y="3701415"/>
                    <a:pt x="29591" y="3694938"/>
                    <a:pt x="18034" y="3683381"/>
                  </a:cubicBezTo>
                  <a:cubicBezTo>
                    <a:pt x="6477" y="3671824"/>
                    <a:pt x="0" y="3656203"/>
                    <a:pt x="0" y="3639693"/>
                  </a:cubicBezTo>
                  <a:lnTo>
                    <a:pt x="0" y="61722"/>
                  </a:lnTo>
                  <a:cubicBezTo>
                    <a:pt x="0" y="45339"/>
                    <a:pt x="6477" y="29718"/>
                    <a:pt x="18034" y="18034"/>
                  </a:cubicBezTo>
                  <a:cubicBezTo>
                    <a:pt x="29591" y="6350"/>
                    <a:pt x="45339" y="0"/>
                    <a:pt x="61722" y="0"/>
                  </a:cubicBezTo>
                  <a:close/>
                </a:path>
              </a:pathLst>
            </a:custGeom>
            <a:solidFill>
              <a:srgbClr val="10242B"/>
            </a:solidFill>
          </p:spPr>
        </p:sp>
      </p:grpSp>
      <p:grpSp>
        <p:nvGrpSpPr>
          <p:cNvPr name="Group 25" id="25"/>
          <p:cNvGrpSpPr/>
          <p:nvPr/>
        </p:nvGrpSpPr>
        <p:grpSpPr>
          <a:xfrm rot="0">
            <a:off x="13335000" y="4776788"/>
            <a:ext cx="3524250" cy="2761869"/>
            <a:chOff x="0" y="0"/>
            <a:chExt cx="4699000" cy="3682492"/>
          </a:xfrm>
        </p:grpSpPr>
        <p:sp>
          <p:nvSpPr>
            <p:cNvPr name="Freeform 26" id="26"/>
            <p:cNvSpPr/>
            <p:nvPr/>
          </p:nvSpPr>
          <p:spPr>
            <a:xfrm flipH="false" flipV="false" rot="0">
              <a:off x="0" y="0"/>
              <a:ext cx="4699000" cy="3682490"/>
            </a:xfrm>
            <a:custGeom>
              <a:avLst/>
              <a:gdLst/>
              <a:ahLst/>
              <a:cxnLst/>
              <a:rect r="r" b="b" t="t" l="l"/>
              <a:pathLst>
                <a:path h="3682490" w="4699000">
                  <a:moveTo>
                    <a:pt x="0" y="0"/>
                  </a:moveTo>
                  <a:lnTo>
                    <a:pt x="4699000" y="0"/>
                  </a:lnTo>
                  <a:lnTo>
                    <a:pt x="4699000" y="3682490"/>
                  </a:lnTo>
                  <a:lnTo>
                    <a:pt x="0" y="3682490"/>
                  </a:lnTo>
                  <a:close/>
                </a:path>
              </a:pathLst>
            </a:custGeom>
            <a:blipFill>
              <a:blip r:embed="rId2">
                <a:alphaModFix amt="0"/>
              </a:blip>
              <a:stretch>
                <a:fillRect l="-50548" t="0" r="-50548" b="0"/>
              </a:stretch>
            </a:blipFill>
          </p:spPr>
        </p:sp>
        <p:sp>
          <p:nvSpPr>
            <p:cNvPr name="TextBox 27" id="27"/>
            <p:cNvSpPr txBox="true"/>
            <p:nvPr/>
          </p:nvSpPr>
          <p:spPr>
            <a:xfrm>
              <a:off x="0" y="19050"/>
              <a:ext cx="4699000" cy="3663442"/>
            </a:xfrm>
            <a:prstGeom prst="rect">
              <a:avLst/>
            </a:prstGeom>
          </p:spPr>
          <p:txBody>
            <a:bodyPr anchor="ctr" rtlCol="false" tIns="0" lIns="0" bIns="0" rIns="0"/>
            <a:lstStyle/>
            <a:p>
              <a:pPr algn="ctr">
                <a:lnSpc>
                  <a:spcPts val="2528"/>
                </a:lnSpc>
              </a:pPr>
              <a:r>
                <a:rPr lang="en-US" sz="2298" b="true">
                  <a:solidFill>
                    <a:srgbClr val="FFFFFF"/>
                  </a:solidFill>
                  <a:latin typeface="DM Sans Bold"/>
                  <a:ea typeface="DM Sans Bold"/>
                  <a:cs typeface="DM Sans Bold"/>
                  <a:sym typeface="DM Sans Bold"/>
                </a:rPr>
                <a:t>4  MANAGE</a:t>
              </a:r>
            </a:p>
            <a:p>
              <a:pPr algn="ctr">
                <a:lnSpc>
                  <a:spcPts val="2528"/>
                </a:lnSpc>
              </a:pPr>
              <a:r>
                <a:rPr lang="en-US" sz="2298" b="true">
                  <a:solidFill>
                    <a:srgbClr val="FFFFFF"/>
                  </a:solidFill>
                  <a:latin typeface="DM Sans Bold"/>
                  <a:ea typeface="DM Sans Bold"/>
                  <a:cs typeface="DM Sans Bold"/>
                  <a:sym typeface="DM Sans Bold"/>
                </a:rPr>
                <a:t>Central admin view</a:t>
              </a:r>
            </a:p>
          </p:txBody>
        </p:sp>
      </p:grpSp>
      <p:sp>
        <p:nvSpPr>
          <p:cNvPr name="TextBox 28" id="28"/>
          <p:cNvSpPr txBox="true"/>
          <p:nvPr/>
        </p:nvSpPr>
        <p:spPr>
          <a:xfrm rot="0">
            <a:off x="862012" y="935679"/>
            <a:ext cx="12763014" cy="692277"/>
          </a:xfrm>
          <a:prstGeom prst="rect">
            <a:avLst/>
          </a:prstGeom>
        </p:spPr>
        <p:txBody>
          <a:bodyPr anchor="t" rtlCol="false" tIns="0" lIns="0" bIns="0" rIns="0">
            <a:spAutoFit/>
          </a:bodyPr>
          <a:lstStyle/>
          <a:p>
            <a:pPr algn="l">
              <a:lnSpc>
                <a:spcPts val="5814"/>
              </a:lnSpc>
            </a:pPr>
            <a:r>
              <a:rPr lang="en-US" sz="5700" b="true">
                <a:solidFill>
                  <a:srgbClr val="10242B"/>
                </a:solidFill>
                <a:latin typeface="Garet Bold"/>
                <a:ea typeface="Garet Bold"/>
                <a:cs typeface="Garet Bold"/>
                <a:sym typeface="Garet Bold"/>
              </a:rPr>
              <a:t>CONCEPT/PROTYPE/SOLUTION: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grpSp>
        <p:nvGrpSpPr>
          <p:cNvPr name="Group 2" id="2"/>
          <p:cNvGrpSpPr/>
          <p:nvPr/>
        </p:nvGrpSpPr>
        <p:grpSpPr>
          <a:xfrm rot="0">
            <a:off x="9711214" y="3922090"/>
            <a:ext cx="8289074" cy="4585697"/>
            <a:chOff x="0" y="0"/>
            <a:chExt cx="11052099" cy="6114263"/>
          </a:xfrm>
        </p:grpSpPr>
        <p:sp>
          <p:nvSpPr>
            <p:cNvPr name="Freeform 3" id="3"/>
            <p:cNvSpPr/>
            <p:nvPr/>
          </p:nvSpPr>
          <p:spPr>
            <a:xfrm flipH="false" flipV="false" rot="0">
              <a:off x="0" y="0"/>
              <a:ext cx="11052048" cy="6114288"/>
            </a:xfrm>
            <a:custGeom>
              <a:avLst/>
              <a:gdLst/>
              <a:ahLst/>
              <a:cxnLst/>
              <a:rect r="r" b="b" t="t" l="l"/>
              <a:pathLst>
                <a:path h="6114288" w="11052048">
                  <a:moveTo>
                    <a:pt x="0" y="0"/>
                  </a:moveTo>
                  <a:lnTo>
                    <a:pt x="11052048" y="0"/>
                  </a:lnTo>
                  <a:lnTo>
                    <a:pt x="11052048" y="6114288"/>
                  </a:lnTo>
                  <a:lnTo>
                    <a:pt x="0" y="6114288"/>
                  </a:lnTo>
                  <a:lnTo>
                    <a:pt x="0" y="0"/>
                  </a:lnTo>
                  <a:close/>
                </a:path>
              </a:pathLst>
            </a:custGeom>
            <a:blipFill>
              <a:blip r:embed="rId2"/>
              <a:stretch>
                <a:fillRect l="-1738" t="0" r="-1738" b="0"/>
              </a:stretch>
            </a:blipFill>
          </p:spPr>
        </p:sp>
      </p:grpSp>
      <p:grpSp>
        <p:nvGrpSpPr>
          <p:cNvPr name="Group 4" id="4"/>
          <p:cNvGrpSpPr/>
          <p:nvPr/>
        </p:nvGrpSpPr>
        <p:grpSpPr>
          <a:xfrm rot="0">
            <a:off x="335928" y="3922090"/>
            <a:ext cx="8808072" cy="4585697"/>
            <a:chOff x="0" y="0"/>
            <a:chExt cx="11744096" cy="6114263"/>
          </a:xfrm>
        </p:grpSpPr>
        <p:sp>
          <p:nvSpPr>
            <p:cNvPr name="Freeform 5" id="5"/>
            <p:cNvSpPr/>
            <p:nvPr/>
          </p:nvSpPr>
          <p:spPr>
            <a:xfrm flipH="false" flipV="false" rot="0">
              <a:off x="0" y="0"/>
              <a:ext cx="11744071" cy="6114288"/>
            </a:xfrm>
            <a:custGeom>
              <a:avLst/>
              <a:gdLst/>
              <a:ahLst/>
              <a:cxnLst/>
              <a:rect r="r" b="b" t="t" l="l"/>
              <a:pathLst>
                <a:path h="6114288" w="11744071">
                  <a:moveTo>
                    <a:pt x="0" y="0"/>
                  </a:moveTo>
                  <a:lnTo>
                    <a:pt x="11744071" y="0"/>
                  </a:lnTo>
                  <a:lnTo>
                    <a:pt x="11744071" y="6114288"/>
                  </a:lnTo>
                  <a:lnTo>
                    <a:pt x="0" y="6114288"/>
                  </a:lnTo>
                  <a:lnTo>
                    <a:pt x="0" y="0"/>
                  </a:lnTo>
                  <a:close/>
                </a:path>
              </a:pathLst>
            </a:custGeom>
            <a:blipFill>
              <a:blip r:embed="rId3"/>
              <a:stretch>
                <a:fillRect l="0" t="-9" r="0" b="-9"/>
              </a:stretch>
            </a:blipFill>
          </p:spPr>
        </p:sp>
      </p:grpSp>
      <p:sp>
        <p:nvSpPr>
          <p:cNvPr name="TextBox 6" id="6"/>
          <p:cNvSpPr txBox="true"/>
          <p:nvPr/>
        </p:nvSpPr>
        <p:spPr>
          <a:xfrm rot="0">
            <a:off x="857250" y="2376107"/>
            <a:ext cx="5715000" cy="1176528"/>
          </a:xfrm>
          <a:prstGeom prst="rect">
            <a:avLst/>
          </a:prstGeom>
        </p:spPr>
        <p:txBody>
          <a:bodyPr anchor="t" rtlCol="false" tIns="0" lIns="0" bIns="0" rIns="0">
            <a:spAutoFit/>
          </a:bodyPr>
          <a:lstStyle/>
          <a:p>
            <a:pPr algn="l">
              <a:lnSpc>
                <a:spcPts val="4896"/>
              </a:lnSpc>
            </a:pPr>
            <a:r>
              <a:rPr lang="en-US" sz="4800" b="true">
                <a:solidFill>
                  <a:srgbClr val="FFFFFF"/>
                </a:solidFill>
                <a:latin typeface="League Spartan"/>
                <a:ea typeface="League Spartan"/>
                <a:cs typeface="League Spartan"/>
                <a:sym typeface="League Spartan"/>
              </a:rPr>
              <a:t>Control room,</a:t>
            </a:r>
          </a:p>
          <a:p>
            <a:pPr algn="l">
              <a:lnSpc>
                <a:spcPts val="4896"/>
              </a:lnSpc>
            </a:pPr>
            <a:r>
              <a:rPr lang="en-US" sz="4800" b="true">
                <a:solidFill>
                  <a:srgbClr val="FFFFFF"/>
                </a:solidFill>
                <a:latin typeface="League Spartan"/>
                <a:ea typeface="League Spartan"/>
                <a:cs typeface="League Spartan"/>
                <a:sym typeface="League Spartan"/>
              </a:rPr>
              <a:t>without the walls.</a:t>
            </a:r>
          </a:p>
        </p:txBody>
      </p:sp>
      <p:sp>
        <p:nvSpPr>
          <p:cNvPr name="TextBox 7" id="7"/>
          <p:cNvSpPr txBox="true"/>
          <p:nvPr/>
        </p:nvSpPr>
        <p:spPr>
          <a:xfrm rot="0">
            <a:off x="9144000" y="2442877"/>
            <a:ext cx="4953000" cy="795338"/>
          </a:xfrm>
          <a:prstGeom prst="rect">
            <a:avLst/>
          </a:prstGeom>
        </p:spPr>
        <p:txBody>
          <a:bodyPr anchor="t" rtlCol="false" tIns="0" lIns="0" bIns="0" rIns="0">
            <a:spAutoFit/>
          </a:bodyPr>
          <a:lstStyle/>
          <a:p>
            <a:pPr algn="l">
              <a:lnSpc>
                <a:spcPts val="3037"/>
              </a:lnSpc>
            </a:pPr>
            <a:r>
              <a:rPr lang="en-US" sz="2250">
                <a:solidFill>
                  <a:srgbClr val="FFFFFF"/>
                </a:solidFill>
                <a:latin typeface="DM Sans"/>
                <a:ea typeface="DM Sans"/>
                <a:cs typeface="DM Sans"/>
                <a:sym typeface="DM Sans"/>
              </a:rPr>
              <a:t>Regional selection → live traffic map → signal action → admin oversight</a:t>
            </a:r>
          </a:p>
        </p:txBody>
      </p:sp>
      <p:sp>
        <p:nvSpPr>
          <p:cNvPr name="TextBox 8" id="8"/>
          <p:cNvSpPr txBox="true"/>
          <p:nvPr/>
        </p:nvSpPr>
        <p:spPr>
          <a:xfrm rot="0">
            <a:off x="857250" y="9163050"/>
            <a:ext cx="9510398" cy="421005"/>
          </a:xfrm>
          <a:prstGeom prst="rect">
            <a:avLst/>
          </a:prstGeom>
        </p:spPr>
        <p:txBody>
          <a:bodyPr anchor="t" rtlCol="false" tIns="0" lIns="0" bIns="0" rIns="0">
            <a:spAutoFit/>
          </a:bodyPr>
          <a:lstStyle/>
          <a:p>
            <a:pPr algn="l">
              <a:lnSpc>
                <a:spcPts val="3043"/>
              </a:lnSpc>
            </a:pPr>
            <a:r>
              <a:rPr lang="en-US" b="true" sz="2174" spc="259">
                <a:solidFill>
                  <a:srgbClr val="B8E34A"/>
                </a:solidFill>
                <a:latin typeface="DM Sans Bold"/>
                <a:ea typeface="DM Sans Bold"/>
                <a:cs typeface="DM Sans Bold"/>
                <a:sym typeface="DM Sans Bold"/>
              </a:rPr>
              <a:t>WEBSITE LINK: smartflowtrafficmanagement.netlify.app</a:t>
            </a:r>
          </a:p>
        </p:txBody>
      </p:sp>
      <p:sp>
        <p:nvSpPr>
          <p:cNvPr name="TextBox 9" id="9"/>
          <p:cNvSpPr txBox="true"/>
          <p:nvPr/>
        </p:nvSpPr>
        <p:spPr>
          <a:xfrm rot="0">
            <a:off x="682047" y="980504"/>
            <a:ext cx="13173704" cy="538353"/>
          </a:xfrm>
          <a:prstGeom prst="rect">
            <a:avLst/>
          </a:prstGeom>
        </p:spPr>
        <p:txBody>
          <a:bodyPr anchor="t" rtlCol="false" tIns="0" lIns="0" bIns="0" rIns="0">
            <a:spAutoFit/>
          </a:bodyPr>
          <a:lstStyle/>
          <a:p>
            <a:pPr algn="l">
              <a:lnSpc>
                <a:spcPts val="4896"/>
              </a:lnSpc>
            </a:pPr>
            <a:r>
              <a:rPr lang="en-US" sz="4800" b="true">
                <a:solidFill>
                  <a:srgbClr val="FFFFFF"/>
                </a:solidFill>
                <a:latin typeface="Open Sauce Bold"/>
                <a:ea typeface="Open Sauce Bold"/>
                <a:cs typeface="Open Sauce Bold"/>
                <a:sym typeface="Open Sauce Bold"/>
              </a:rPr>
              <a:t>STORYBOARD/ARCHITECTURE: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1047750" y="809625"/>
            <a:ext cx="8970188" cy="673227"/>
          </a:xfrm>
          <a:prstGeom prst="rect">
            <a:avLst/>
          </a:prstGeom>
        </p:spPr>
        <p:txBody>
          <a:bodyPr anchor="t" rtlCol="false" tIns="0" lIns="0" bIns="0" rIns="0">
            <a:spAutoFit/>
          </a:bodyPr>
          <a:lstStyle/>
          <a:p>
            <a:pPr algn="l">
              <a:lnSpc>
                <a:spcPts val="5814"/>
              </a:lnSpc>
            </a:pPr>
            <a:r>
              <a:rPr lang="en-US" sz="5700" b="true">
                <a:solidFill>
                  <a:srgbClr val="10242B"/>
                </a:solidFill>
                <a:latin typeface="League Spartan"/>
                <a:ea typeface="League Spartan"/>
                <a:cs typeface="League Spartan"/>
                <a:sym typeface="League Spartan"/>
              </a:rPr>
              <a:t>LEAN CANVAS MODEL:</a:t>
            </a:r>
          </a:p>
        </p:txBody>
      </p:sp>
      <p:sp>
        <p:nvSpPr>
          <p:cNvPr name="Freeform 3" id="3"/>
          <p:cNvSpPr/>
          <p:nvPr/>
        </p:nvSpPr>
        <p:spPr>
          <a:xfrm flipH="false" flipV="false" rot="0">
            <a:off x="761371" y="2186340"/>
            <a:ext cx="3891934" cy="3038704"/>
          </a:xfrm>
          <a:custGeom>
            <a:avLst/>
            <a:gdLst/>
            <a:ahLst/>
            <a:cxnLst/>
            <a:rect r="r" b="b" t="t" l="l"/>
            <a:pathLst>
              <a:path h="3038704" w="3891934">
                <a:moveTo>
                  <a:pt x="0" y="0"/>
                </a:moveTo>
                <a:lnTo>
                  <a:pt x="3891934" y="0"/>
                </a:lnTo>
                <a:lnTo>
                  <a:pt x="3891934" y="3038704"/>
                </a:lnTo>
                <a:lnTo>
                  <a:pt x="0" y="3038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5052479" y="2186340"/>
            <a:ext cx="3891934" cy="3038704"/>
          </a:xfrm>
          <a:custGeom>
            <a:avLst/>
            <a:gdLst/>
            <a:ahLst/>
            <a:cxnLst/>
            <a:rect r="r" b="b" t="t" l="l"/>
            <a:pathLst>
              <a:path h="3038704" w="3891934">
                <a:moveTo>
                  <a:pt x="0" y="0"/>
                </a:moveTo>
                <a:lnTo>
                  <a:pt x="3891934" y="0"/>
                </a:lnTo>
                <a:lnTo>
                  <a:pt x="3891934" y="3038704"/>
                </a:lnTo>
                <a:lnTo>
                  <a:pt x="0" y="3038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9343587" y="2186340"/>
            <a:ext cx="3891934" cy="3038704"/>
          </a:xfrm>
          <a:custGeom>
            <a:avLst/>
            <a:gdLst/>
            <a:ahLst/>
            <a:cxnLst/>
            <a:rect r="r" b="b" t="t" l="l"/>
            <a:pathLst>
              <a:path h="3038704" w="3891934">
                <a:moveTo>
                  <a:pt x="0" y="0"/>
                </a:moveTo>
                <a:lnTo>
                  <a:pt x="3891934" y="0"/>
                </a:lnTo>
                <a:lnTo>
                  <a:pt x="3891934" y="3038704"/>
                </a:lnTo>
                <a:lnTo>
                  <a:pt x="0" y="30387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13634695" y="2186340"/>
            <a:ext cx="3891934" cy="3038704"/>
          </a:xfrm>
          <a:custGeom>
            <a:avLst/>
            <a:gdLst/>
            <a:ahLst/>
            <a:cxnLst/>
            <a:rect r="r" b="b" t="t" l="l"/>
            <a:pathLst>
              <a:path h="3038704" w="3891934">
                <a:moveTo>
                  <a:pt x="0" y="0"/>
                </a:moveTo>
                <a:lnTo>
                  <a:pt x="3891934" y="0"/>
                </a:lnTo>
                <a:lnTo>
                  <a:pt x="3891934" y="3038704"/>
                </a:lnTo>
                <a:lnTo>
                  <a:pt x="0" y="30387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761371" y="5679110"/>
            <a:ext cx="3891934" cy="3038704"/>
          </a:xfrm>
          <a:custGeom>
            <a:avLst/>
            <a:gdLst/>
            <a:ahLst/>
            <a:cxnLst/>
            <a:rect r="r" b="b" t="t" l="l"/>
            <a:pathLst>
              <a:path h="3038704" w="3891934">
                <a:moveTo>
                  <a:pt x="0" y="0"/>
                </a:moveTo>
                <a:lnTo>
                  <a:pt x="3891934" y="0"/>
                </a:lnTo>
                <a:lnTo>
                  <a:pt x="3891934" y="3038703"/>
                </a:lnTo>
                <a:lnTo>
                  <a:pt x="0" y="3038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false" rot="0">
            <a:off x="5052479" y="5679110"/>
            <a:ext cx="3891934" cy="3038704"/>
          </a:xfrm>
          <a:custGeom>
            <a:avLst/>
            <a:gdLst/>
            <a:ahLst/>
            <a:cxnLst/>
            <a:rect r="r" b="b" t="t" l="l"/>
            <a:pathLst>
              <a:path h="3038704" w="3891934">
                <a:moveTo>
                  <a:pt x="0" y="0"/>
                </a:moveTo>
                <a:lnTo>
                  <a:pt x="3891934" y="0"/>
                </a:lnTo>
                <a:lnTo>
                  <a:pt x="3891934" y="3038703"/>
                </a:lnTo>
                <a:lnTo>
                  <a:pt x="0" y="3038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343587" y="5679110"/>
            <a:ext cx="3891934" cy="3038704"/>
          </a:xfrm>
          <a:custGeom>
            <a:avLst/>
            <a:gdLst/>
            <a:ahLst/>
            <a:cxnLst/>
            <a:rect r="r" b="b" t="t" l="l"/>
            <a:pathLst>
              <a:path h="3038704" w="3891934">
                <a:moveTo>
                  <a:pt x="0" y="0"/>
                </a:moveTo>
                <a:lnTo>
                  <a:pt x="3891934" y="0"/>
                </a:lnTo>
                <a:lnTo>
                  <a:pt x="3891934" y="3038703"/>
                </a:lnTo>
                <a:lnTo>
                  <a:pt x="0" y="3038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3634695" y="5679110"/>
            <a:ext cx="3891934" cy="3038704"/>
          </a:xfrm>
          <a:custGeom>
            <a:avLst/>
            <a:gdLst/>
            <a:ahLst/>
            <a:cxnLst/>
            <a:rect r="r" b="b" t="t" l="l"/>
            <a:pathLst>
              <a:path h="3038704" w="3891934">
                <a:moveTo>
                  <a:pt x="0" y="0"/>
                </a:moveTo>
                <a:lnTo>
                  <a:pt x="3891934" y="0"/>
                </a:lnTo>
                <a:lnTo>
                  <a:pt x="3891934" y="3038703"/>
                </a:lnTo>
                <a:lnTo>
                  <a:pt x="0" y="303870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1010860" y="243447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PROBLEM</a:t>
            </a:r>
          </a:p>
        </p:txBody>
      </p:sp>
      <p:sp>
        <p:nvSpPr>
          <p:cNvPr name="TextBox 12" id="12"/>
          <p:cNvSpPr txBox="true"/>
          <p:nvPr/>
        </p:nvSpPr>
        <p:spPr>
          <a:xfrm rot="0">
            <a:off x="1010860" y="3103083"/>
            <a:ext cx="3392967" cy="904980"/>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Congestion; static, fragmented control</a:t>
            </a:r>
          </a:p>
        </p:txBody>
      </p:sp>
      <p:sp>
        <p:nvSpPr>
          <p:cNvPr name="TextBox 13" id="13"/>
          <p:cNvSpPr txBox="true"/>
          <p:nvPr/>
        </p:nvSpPr>
        <p:spPr>
          <a:xfrm rot="0">
            <a:off x="5301958" y="243447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SOLUTION</a:t>
            </a:r>
          </a:p>
        </p:txBody>
      </p:sp>
      <p:sp>
        <p:nvSpPr>
          <p:cNvPr name="TextBox 14" id="14"/>
          <p:cNvSpPr txBox="true"/>
          <p:nvPr/>
        </p:nvSpPr>
        <p:spPr>
          <a:xfrm rot="0">
            <a:off x="5301958" y="3103083"/>
            <a:ext cx="3392967" cy="904980"/>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Live tracking and smart signal control</a:t>
            </a:r>
          </a:p>
        </p:txBody>
      </p:sp>
      <p:sp>
        <p:nvSpPr>
          <p:cNvPr name="TextBox 15" id="15"/>
          <p:cNvSpPr txBox="true"/>
          <p:nvPr/>
        </p:nvSpPr>
        <p:spPr>
          <a:xfrm rot="0">
            <a:off x="9593066" y="243447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KEY METRICS</a:t>
            </a:r>
          </a:p>
        </p:txBody>
      </p:sp>
      <p:sp>
        <p:nvSpPr>
          <p:cNvPr name="TextBox 16" id="16"/>
          <p:cNvSpPr txBox="true"/>
          <p:nvPr/>
        </p:nvSpPr>
        <p:spPr>
          <a:xfrm rot="0">
            <a:off x="9593066" y="310308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Coverage, response time, congestion trend</a:t>
            </a:r>
          </a:p>
        </p:txBody>
      </p:sp>
      <p:sp>
        <p:nvSpPr>
          <p:cNvPr name="TextBox 17" id="17"/>
          <p:cNvSpPr txBox="true"/>
          <p:nvPr/>
        </p:nvSpPr>
        <p:spPr>
          <a:xfrm rot="0">
            <a:off x="13884173" y="243447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UNIQUE VALUE</a:t>
            </a:r>
          </a:p>
        </p:txBody>
      </p:sp>
      <p:sp>
        <p:nvSpPr>
          <p:cNvPr name="TextBox 18" id="18"/>
          <p:cNvSpPr txBox="true"/>
          <p:nvPr/>
        </p:nvSpPr>
        <p:spPr>
          <a:xfrm rot="0">
            <a:off x="13884173" y="310308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One view from regional insight to operator action</a:t>
            </a:r>
          </a:p>
        </p:txBody>
      </p:sp>
      <p:sp>
        <p:nvSpPr>
          <p:cNvPr name="TextBox 19" id="19"/>
          <p:cNvSpPr txBox="true"/>
          <p:nvPr/>
        </p:nvSpPr>
        <p:spPr>
          <a:xfrm rot="0">
            <a:off x="1010860" y="592723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CUSTOMERS</a:t>
            </a:r>
          </a:p>
        </p:txBody>
      </p:sp>
      <p:sp>
        <p:nvSpPr>
          <p:cNvPr name="TextBox 20" id="20"/>
          <p:cNvSpPr txBox="true"/>
          <p:nvPr/>
        </p:nvSpPr>
        <p:spPr>
          <a:xfrm rot="0">
            <a:off x="1010860" y="659584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Authorities, planners, operators, transit agencies</a:t>
            </a:r>
          </a:p>
        </p:txBody>
      </p:sp>
      <p:sp>
        <p:nvSpPr>
          <p:cNvPr name="TextBox 21" id="21"/>
          <p:cNvSpPr txBox="true"/>
          <p:nvPr/>
        </p:nvSpPr>
        <p:spPr>
          <a:xfrm rot="0">
            <a:off x="5301958" y="592723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CHANNELS</a:t>
            </a:r>
          </a:p>
        </p:txBody>
      </p:sp>
      <p:sp>
        <p:nvSpPr>
          <p:cNvPr name="TextBox 22" id="22"/>
          <p:cNvSpPr txBox="true"/>
          <p:nvPr/>
        </p:nvSpPr>
        <p:spPr>
          <a:xfrm rot="0">
            <a:off x="5301958" y="659584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Municipal pilots, partnerships, public procurement</a:t>
            </a:r>
          </a:p>
        </p:txBody>
      </p:sp>
      <p:sp>
        <p:nvSpPr>
          <p:cNvPr name="TextBox 23" id="23"/>
          <p:cNvSpPr txBox="true"/>
          <p:nvPr/>
        </p:nvSpPr>
        <p:spPr>
          <a:xfrm rot="0">
            <a:off x="9593066" y="592723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COST STRUCTURE</a:t>
            </a:r>
          </a:p>
        </p:txBody>
      </p:sp>
      <p:sp>
        <p:nvSpPr>
          <p:cNvPr name="TextBox 24" id="24"/>
          <p:cNvSpPr txBox="true"/>
          <p:nvPr/>
        </p:nvSpPr>
        <p:spPr>
          <a:xfrm rot="0">
            <a:off x="9593066" y="659584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Platform, infrastructure, integration, support</a:t>
            </a:r>
          </a:p>
        </p:txBody>
      </p:sp>
      <p:sp>
        <p:nvSpPr>
          <p:cNvPr name="TextBox 25" id="25"/>
          <p:cNvSpPr txBox="true"/>
          <p:nvPr/>
        </p:nvSpPr>
        <p:spPr>
          <a:xfrm rot="0">
            <a:off x="13884173" y="5927236"/>
            <a:ext cx="3392967" cy="417490"/>
          </a:xfrm>
          <a:prstGeom prst="rect">
            <a:avLst/>
          </a:prstGeom>
        </p:spPr>
        <p:txBody>
          <a:bodyPr anchor="t" rtlCol="false" tIns="0" lIns="0" bIns="0" rIns="0">
            <a:spAutoFit/>
          </a:bodyPr>
          <a:lstStyle/>
          <a:p>
            <a:pPr algn="l">
              <a:lnSpc>
                <a:spcPts val="3189"/>
              </a:lnSpc>
            </a:pPr>
            <a:r>
              <a:rPr lang="en-US" b="true" sz="2277" spc="272">
                <a:solidFill>
                  <a:srgbClr val="10242B"/>
                </a:solidFill>
                <a:latin typeface="DM Sans Bold"/>
                <a:ea typeface="DM Sans Bold"/>
                <a:cs typeface="DM Sans Bold"/>
                <a:sym typeface="DM Sans Bold"/>
              </a:rPr>
              <a:t>REVENUE STREAMS</a:t>
            </a:r>
          </a:p>
        </p:txBody>
      </p:sp>
      <p:sp>
        <p:nvSpPr>
          <p:cNvPr name="TextBox 26" id="26"/>
          <p:cNvSpPr txBox="true"/>
          <p:nvPr/>
        </p:nvSpPr>
        <p:spPr>
          <a:xfrm rot="0">
            <a:off x="13884173" y="6595843"/>
            <a:ext cx="3392967" cy="1344073"/>
          </a:xfrm>
          <a:prstGeom prst="rect">
            <a:avLst/>
          </a:prstGeom>
        </p:spPr>
        <p:txBody>
          <a:bodyPr anchor="t" rtlCol="false" tIns="0" lIns="0" bIns="0" rIns="0">
            <a:spAutoFit/>
          </a:bodyPr>
          <a:lstStyle/>
          <a:p>
            <a:pPr algn="l">
              <a:lnSpc>
                <a:spcPts val="3500"/>
              </a:lnSpc>
            </a:pPr>
            <a:r>
              <a:rPr lang="en-US" sz="2592">
                <a:solidFill>
                  <a:srgbClr val="10242B"/>
                </a:solidFill>
                <a:latin typeface="DM Sans"/>
                <a:ea typeface="DM Sans"/>
                <a:cs typeface="DM Sans"/>
                <a:sym typeface="DM Sans"/>
              </a:rPr>
              <a:t>Licensing, implementation, service contracts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TextBox 2" id="2"/>
          <p:cNvSpPr txBox="true"/>
          <p:nvPr/>
        </p:nvSpPr>
        <p:spPr>
          <a:xfrm rot="0">
            <a:off x="1143000" y="3029922"/>
            <a:ext cx="7620000" cy="1406652"/>
          </a:xfrm>
          <a:prstGeom prst="rect">
            <a:avLst/>
          </a:prstGeom>
        </p:spPr>
        <p:txBody>
          <a:bodyPr anchor="t" rtlCol="false" tIns="0" lIns="0" bIns="0" rIns="0">
            <a:spAutoFit/>
          </a:bodyPr>
          <a:lstStyle/>
          <a:p>
            <a:pPr algn="l">
              <a:lnSpc>
                <a:spcPts val="5814"/>
              </a:lnSpc>
            </a:pPr>
            <a:r>
              <a:rPr lang="en-US" sz="5700" b="true">
                <a:solidFill>
                  <a:srgbClr val="FFFFFF"/>
                </a:solidFill>
                <a:latin typeface="League Spartan"/>
                <a:ea typeface="League Spartan"/>
                <a:cs typeface="League Spartan"/>
                <a:sym typeface="League Spartan"/>
              </a:rPr>
              <a:t>Capital follows</a:t>
            </a:r>
          </a:p>
          <a:p>
            <a:pPr algn="l">
              <a:lnSpc>
                <a:spcPts val="5814"/>
              </a:lnSpc>
            </a:pPr>
            <a:r>
              <a:rPr lang="en-US" sz="5700" b="true">
                <a:solidFill>
                  <a:srgbClr val="FFFFFF"/>
                </a:solidFill>
                <a:latin typeface="League Spartan"/>
                <a:ea typeface="League Spartan"/>
                <a:cs typeface="League Spartan"/>
                <a:sym typeface="League Spartan"/>
              </a:rPr>
              <a:t>the system.</a:t>
            </a:r>
          </a:p>
        </p:txBody>
      </p:sp>
      <p:sp>
        <p:nvSpPr>
          <p:cNvPr name="TextBox 3" id="3"/>
          <p:cNvSpPr txBox="true"/>
          <p:nvPr/>
        </p:nvSpPr>
        <p:spPr>
          <a:xfrm rot="0">
            <a:off x="10575760" y="2359600"/>
            <a:ext cx="6191250" cy="902494"/>
          </a:xfrm>
          <a:prstGeom prst="rect">
            <a:avLst/>
          </a:prstGeom>
        </p:spPr>
        <p:txBody>
          <a:bodyPr anchor="t" rtlCol="false" tIns="0" lIns="0" bIns="0" rIns="0">
            <a:spAutoFit/>
          </a:bodyPr>
          <a:lstStyle/>
          <a:p>
            <a:pPr algn="l">
              <a:lnSpc>
                <a:spcPts val="3543"/>
              </a:lnSpc>
            </a:pPr>
            <a:r>
              <a:rPr lang="en-US" sz="2624">
                <a:solidFill>
                  <a:srgbClr val="FFFFFF"/>
                </a:solidFill>
                <a:latin typeface="DM Sans"/>
                <a:ea typeface="DM Sans"/>
                <a:cs typeface="DM Sans"/>
                <a:sym typeface="DM Sans"/>
              </a:rPr>
              <a:t>From software foundation to city-scale operations.</a:t>
            </a:r>
          </a:p>
        </p:txBody>
      </p:sp>
      <p:sp>
        <p:nvSpPr>
          <p:cNvPr name="Freeform 4" id="4"/>
          <p:cNvSpPr/>
          <p:nvPr/>
        </p:nvSpPr>
        <p:spPr>
          <a:xfrm flipH="false" flipV="false" rot="0">
            <a:off x="745312" y="5498268"/>
            <a:ext cx="3807676" cy="3043638"/>
          </a:xfrm>
          <a:custGeom>
            <a:avLst/>
            <a:gdLst/>
            <a:ahLst/>
            <a:cxnLst/>
            <a:rect r="r" b="b" t="t" l="l"/>
            <a:pathLst>
              <a:path h="3043638" w="3807676">
                <a:moveTo>
                  <a:pt x="0" y="0"/>
                </a:moveTo>
                <a:lnTo>
                  <a:pt x="3807676" y="0"/>
                </a:lnTo>
                <a:lnTo>
                  <a:pt x="3807676" y="3043638"/>
                </a:lnTo>
                <a:lnTo>
                  <a:pt x="0" y="3043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5054003" y="5498268"/>
            <a:ext cx="3807676" cy="3043638"/>
          </a:xfrm>
          <a:custGeom>
            <a:avLst/>
            <a:gdLst/>
            <a:ahLst/>
            <a:cxnLst/>
            <a:rect r="r" b="b" t="t" l="l"/>
            <a:pathLst>
              <a:path h="3043638" w="3807676">
                <a:moveTo>
                  <a:pt x="0" y="0"/>
                </a:moveTo>
                <a:lnTo>
                  <a:pt x="3807676" y="0"/>
                </a:lnTo>
                <a:lnTo>
                  <a:pt x="3807676" y="3043638"/>
                </a:lnTo>
                <a:lnTo>
                  <a:pt x="0" y="3043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362694" y="5498268"/>
            <a:ext cx="3807676" cy="3043638"/>
          </a:xfrm>
          <a:custGeom>
            <a:avLst/>
            <a:gdLst/>
            <a:ahLst/>
            <a:cxnLst/>
            <a:rect r="r" b="b" t="t" l="l"/>
            <a:pathLst>
              <a:path h="3043638" w="3807676">
                <a:moveTo>
                  <a:pt x="0" y="0"/>
                </a:moveTo>
                <a:lnTo>
                  <a:pt x="3807676" y="0"/>
                </a:lnTo>
                <a:lnTo>
                  <a:pt x="3807676" y="3043638"/>
                </a:lnTo>
                <a:lnTo>
                  <a:pt x="0" y="30436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13671385" y="5498268"/>
            <a:ext cx="3807676" cy="3043638"/>
          </a:xfrm>
          <a:custGeom>
            <a:avLst/>
            <a:gdLst/>
            <a:ahLst/>
            <a:cxnLst/>
            <a:rect r="r" b="b" t="t" l="l"/>
            <a:pathLst>
              <a:path h="3043638" w="3807676">
                <a:moveTo>
                  <a:pt x="0" y="0"/>
                </a:moveTo>
                <a:lnTo>
                  <a:pt x="3807676" y="0"/>
                </a:lnTo>
                <a:lnTo>
                  <a:pt x="3807676" y="3043638"/>
                </a:lnTo>
                <a:lnTo>
                  <a:pt x="0" y="30436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1025881" y="5841406"/>
            <a:ext cx="3206467" cy="403203"/>
          </a:xfrm>
          <a:prstGeom prst="rect">
            <a:avLst/>
          </a:prstGeom>
        </p:spPr>
        <p:txBody>
          <a:bodyPr anchor="t" rtlCol="false" tIns="0" lIns="0" bIns="0" rIns="0">
            <a:spAutoFit/>
          </a:bodyPr>
          <a:lstStyle/>
          <a:p>
            <a:pPr algn="l">
              <a:lnSpc>
                <a:spcPts val="2908"/>
              </a:lnSpc>
            </a:pPr>
            <a:r>
              <a:rPr lang="en-US" b="true" sz="2076" spc="248">
                <a:solidFill>
                  <a:srgbClr val="B8E34A"/>
                </a:solidFill>
                <a:latin typeface="DM Sans Bold"/>
                <a:ea typeface="DM Sans Bold"/>
                <a:cs typeface="DM Sans Bold"/>
                <a:sym typeface="DM Sans Bold"/>
              </a:rPr>
              <a:t>BUILD</a:t>
            </a:r>
          </a:p>
        </p:txBody>
      </p:sp>
      <p:sp>
        <p:nvSpPr>
          <p:cNvPr name="TextBox 9" id="9"/>
          <p:cNvSpPr txBox="true"/>
          <p:nvPr/>
        </p:nvSpPr>
        <p:spPr>
          <a:xfrm rot="0">
            <a:off x="1025881" y="6662071"/>
            <a:ext cx="3206467" cy="1233030"/>
          </a:xfrm>
          <a:prstGeom prst="rect">
            <a:avLst/>
          </a:prstGeom>
        </p:spPr>
        <p:txBody>
          <a:bodyPr anchor="t" rtlCol="false" tIns="0" lIns="0" bIns="0" rIns="0">
            <a:spAutoFit/>
          </a:bodyPr>
          <a:lstStyle/>
          <a:p>
            <a:pPr algn="l">
              <a:lnSpc>
                <a:spcPts val="3230"/>
              </a:lnSpc>
            </a:pPr>
            <a:r>
              <a:rPr lang="en-US" sz="2393">
                <a:solidFill>
                  <a:srgbClr val="FFFFFF"/>
                </a:solidFill>
                <a:latin typeface="DM Sans"/>
                <a:ea typeface="DM Sans"/>
                <a:cs typeface="DM Sans"/>
                <a:sym typeface="DM Sans"/>
              </a:rPr>
              <a:t>Web platform and backend infrastructure</a:t>
            </a:r>
          </a:p>
        </p:txBody>
      </p:sp>
      <p:sp>
        <p:nvSpPr>
          <p:cNvPr name="TextBox 10" id="10"/>
          <p:cNvSpPr txBox="true"/>
          <p:nvPr/>
        </p:nvSpPr>
        <p:spPr>
          <a:xfrm rot="0">
            <a:off x="5334571" y="5841406"/>
            <a:ext cx="3206467" cy="403203"/>
          </a:xfrm>
          <a:prstGeom prst="rect">
            <a:avLst/>
          </a:prstGeom>
        </p:spPr>
        <p:txBody>
          <a:bodyPr anchor="t" rtlCol="false" tIns="0" lIns="0" bIns="0" rIns="0">
            <a:spAutoFit/>
          </a:bodyPr>
          <a:lstStyle/>
          <a:p>
            <a:pPr algn="l">
              <a:lnSpc>
                <a:spcPts val="2908"/>
              </a:lnSpc>
            </a:pPr>
            <a:r>
              <a:rPr lang="en-US" b="true" sz="2076" spc="248">
                <a:solidFill>
                  <a:srgbClr val="B8E34A"/>
                </a:solidFill>
                <a:latin typeface="DM Sans Bold"/>
                <a:ea typeface="DM Sans Bold"/>
                <a:cs typeface="DM Sans Bold"/>
                <a:sym typeface="DM Sans Bold"/>
              </a:rPr>
              <a:t>CONNECT</a:t>
            </a:r>
          </a:p>
        </p:txBody>
      </p:sp>
      <p:sp>
        <p:nvSpPr>
          <p:cNvPr name="TextBox 11" id="11"/>
          <p:cNvSpPr txBox="true"/>
          <p:nvPr/>
        </p:nvSpPr>
        <p:spPr>
          <a:xfrm rot="0">
            <a:off x="5334571" y="6662071"/>
            <a:ext cx="3206467" cy="832228"/>
          </a:xfrm>
          <a:prstGeom prst="rect">
            <a:avLst/>
          </a:prstGeom>
        </p:spPr>
        <p:txBody>
          <a:bodyPr anchor="t" rtlCol="false" tIns="0" lIns="0" bIns="0" rIns="0">
            <a:spAutoFit/>
          </a:bodyPr>
          <a:lstStyle/>
          <a:p>
            <a:pPr algn="l">
              <a:lnSpc>
                <a:spcPts val="3230"/>
              </a:lnSpc>
            </a:pPr>
            <a:r>
              <a:rPr lang="en-US" sz="2393">
                <a:solidFill>
                  <a:srgbClr val="FFFFFF"/>
                </a:solidFill>
                <a:latin typeface="DM Sans"/>
                <a:ea typeface="DM Sans"/>
                <a:cs typeface="DM Sans"/>
                <a:sym typeface="DM Sans"/>
              </a:rPr>
              <a:t>Hardware for traffic signal integration</a:t>
            </a:r>
          </a:p>
        </p:txBody>
      </p:sp>
      <p:sp>
        <p:nvSpPr>
          <p:cNvPr name="TextBox 12" id="12"/>
          <p:cNvSpPr txBox="true"/>
          <p:nvPr/>
        </p:nvSpPr>
        <p:spPr>
          <a:xfrm rot="0">
            <a:off x="9643262" y="5841406"/>
            <a:ext cx="3206467" cy="403203"/>
          </a:xfrm>
          <a:prstGeom prst="rect">
            <a:avLst/>
          </a:prstGeom>
        </p:spPr>
        <p:txBody>
          <a:bodyPr anchor="t" rtlCol="false" tIns="0" lIns="0" bIns="0" rIns="0">
            <a:spAutoFit/>
          </a:bodyPr>
          <a:lstStyle/>
          <a:p>
            <a:pPr algn="l">
              <a:lnSpc>
                <a:spcPts val="2908"/>
              </a:lnSpc>
            </a:pPr>
            <a:r>
              <a:rPr lang="en-US" b="true" sz="2076" spc="248">
                <a:solidFill>
                  <a:srgbClr val="B8E34A"/>
                </a:solidFill>
                <a:latin typeface="DM Sans Bold"/>
                <a:ea typeface="DM Sans Bold"/>
                <a:cs typeface="DM Sans Bold"/>
                <a:sym typeface="DM Sans Bold"/>
              </a:rPr>
              <a:t>SUSTAIN</a:t>
            </a:r>
          </a:p>
        </p:txBody>
      </p:sp>
      <p:sp>
        <p:nvSpPr>
          <p:cNvPr name="TextBox 13" id="13"/>
          <p:cNvSpPr txBox="true"/>
          <p:nvPr/>
        </p:nvSpPr>
        <p:spPr>
          <a:xfrm rot="0">
            <a:off x="9643262" y="6662071"/>
            <a:ext cx="3206467" cy="1233030"/>
          </a:xfrm>
          <a:prstGeom prst="rect">
            <a:avLst/>
          </a:prstGeom>
        </p:spPr>
        <p:txBody>
          <a:bodyPr anchor="t" rtlCol="false" tIns="0" lIns="0" bIns="0" rIns="0">
            <a:spAutoFit/>
          </a:bodyPr>
          <a:lstStyle/>
          <a:p>
            <a:pPr algn="l">
              <a:lnSpc>
                <a:spcPts val="3230"/>
              </a:lnSpc>
            </a:pPr>
            <a:r>
              <a:rPr lang="en-US" sz="2393">
                <a:solidFill>
                  <a:srgbClr val="FFFFFF"/>
                </a:solidFill>
                <a:latin typeface="DM Sans"/>
                <a:ea typeface="DM Sans"/>
                <a:cs typeface="DM Sans"/>
                <a:sym typeface="DM Sans"/>
              </a:rPr>
              <a:t>Maintenance, support, and operator enablement</a:t>
            </a:r>
          </a:p>
        </p:txBody>
      </p:sp>
      <p:sp>
        <p:nvSpPr>
          <p:cNvPr name="TextBox 14" id="14"/>
          <p:cNvSpPr txBox="true"/>
          <p:nvPr/>
        </p:nvSpPr>
        <p:spPr>
          <a:xfrm rot="0">
            <a:off x="13951953" y="5841406"/>
            <a:ext cx="3206467" cy="403203"/>
          </a:xfrm>
          <a:prstGeom prst="rect">
            <a:avLst/>
          </a:prstGeom>
        </p:spPr>
        <p:txBody>
          <a:bodyPr anchor="t" rtlCol="false" tIns="0" lIns="0" bIns="0" rIns="0">
            <a:spAutoFit/>
          </a:bodyPr>
          <a:lstStyle/>
          <a:p>
            <a:pPr algn="l">
              <a:lnSpc>
                <a:spcPts val="2908"/>
              </a:lnSpc>
            </a:pPr>
            <a:r>
              <a:rPr lang="en-US" b="true" sz="2076" spc="248">
                <a:solidFill>
                  <a:srgbClr val="10242B"/>
                </a:solidFill>
                <a:latin typeface="DM Sans Bold"/>
                <a:ea typeface="DM Sans Bold"/>
                <a:cs typeface="DM Sans Bold"/>
                <a:sym typeface="DM Sans Bold"/>
              </a:rPr>
              <a:t>FUND</a:t>
            </a:r>
          </a:p>
        </p:txBody>
      </p:sp>
      <p:sp>
        <p:nvSpPr>
          <p:cNvPr name="TextBox 15" id="15"/>
          <p:cNvSpPr txBox="true"/>
          <p:nvPr/>
        </p:nvSpPr>
        <p:spPr>
          <a:xfrm rot="0">
            <a:off x="13951953" y="6662071"/>
            <a:ext cx="3206467" cy="1233030"/>
          </a:xfrm>
          <a:prstGeom prst="rect">
            <a:avLst/>
          </a:prstGeom>
        </p:spPr>
        <p:txBody>
          <a:bodyPr anchor="t" rtlCol="false" tIns="0" lIns="0" bIns="0" rIns="0">
            <a:spAutoFit/>
          </a:bodyPr>
          <a:lstStyle/>
          <a:p>
            <a:pPr algn="l">
              <a:lnSpc>
                <a:spcPts val="3230"/>
              </a:lnSpc>
            </a:pPr>
            <a:r>
              <a:rPr lang="en-US" sz="2393">
                <a:solidFill>
                  <a:srgbClr val="10242B"/>
                </a:solidFill>
                <a:latin typeface="DM Sans"/>
                <a:ea typeface="DM Sans"/>
                <a:cs typeface="DM Sans"/>
                <a:sym typeface="DM Sans"/>
              </a:rPr>
              <a:t>Institutional budgets, grants, and partnerships</a:t>
            </a:r>
          </a:p>
        </p:txBody>
      </p:sp>
      <p:sp>
        <p:nvSpPr>
          <p:cNvPr name="TextBox 16" id="16"/>
          <p:cNvSpPr txBox="true"/>
          <p:nvPr/>
        </p:nvSpPr>
        <p:spPr>
          <a:xfrm rot="0">
            <a:off x="1025881" y="1200150"/>
            <a:ext cx="8796376" cy="770382"/>
          </a:xfrm>
          <a:prstGeom prst="rect">
            <a:avLst/>
          </a:prstGeom>
        </p:spPr>
        <p:txBody>
          <a:bodyPr anchor="t" rtlCol="false" tIns="0" lIns="0" bIns="0" rIns="0">
            <a:spAutoFit/>
          </a:bodyPr>
          <a:lstStyle/>
          <a:p>
            <a:pPr algn="l">
              <a:lnSpc>
                <a:spcPts val="6322"/>
              </a:lnSpc>
            </a:pPr>
            <a:r>
              <a:rPr lang="en-US" sz="6198" b="true">
                <a:solidFill>
                  <a:srgbClr val="FFFFFF"/>
                </a:solidFill>
                <a:latin typeface="Arimo Bold"/>
                <a:ea typeface="Arimo Bold"/>
                <a:cs typeface="Arimo Bold"/>
                <a:sym typeface="Arimo Bold"/>
              </a:rPr>
              <a:t>CAPITAL(FINANCIAL):</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3F6F2"/>
        </a:solidFill>
      </p:bgPr>
    </p:bg>
    <p:spTree>
      <p:nvGrpSpPr>
        <p:cNvPr id="1" name=""/>
        <p:cNvGrpSpPr/>
        <p:nvPr/>
      </p:nvGrpSpPr>
      <p:grpSpPr>
        <a:xfrm>
          <a:off x="0" y="0"/>
          <a:ext cx="0" cy="0"/>
          <a:chOff x="0" y="0"/>
          <a:chExt cx="0" cy="0"/>
        </a:xfrm>
      </p:grpSpPr>
      <p:sp>
        <p:nvSpPr>
          <p:cNvPr name="TextBox 2" id="2"/>
          <p:cNvSpPr txBox="true"/>
          <p:nvPr/>
        </p:nvSpPr>
        <p:spPr>
          <a:xfrm rot="0">
            <a:off x="872547" y="2222373"/>
            <a:ext cx="12382500" cy="673227"/>
          </a:xfrm>
          <a:prstGeom prst="rect">
            <a:avLst/>
          </a:prstGeom>
        </p:spPr>
        <p:txBody>
          <a:bodyPr anchor="t" rtlCol="false" tIns="0" lIns="0" bIns="0" rIns="0">
            <a:spAutoFit/>
          </a:bodyPr>
          <a:lstStyle/>
          <a:p>
            <a:pPr algn="l">
              <a:lnSpc>
                <a:spcPts val="5814"/>
              </a:lnSpc>
            </a:pPr>
            <a:r>
              <a:rPr lang="en-US" sz="5700" b="true">
                <a:solidFill>
                  <a:srgbClr val="10242B"/>
                </a:solidFill>
                <a:latin typeface="League Spartan"/>
                <a:ea typeface="League Spartan"/>
                <a:cs typeface="League Spartan"/>
                <a:sym typeface="League Spartan"/>
              </a:rPr>
              <a:t>A year from idea to rollout</a:t>
            </a:r>
          </a:p>
        </p:txBody>
      </p:sp>
      <p:sp>
        <p:nvSpPr>
          <p:cNvPr name="AutoShape 3" id="3"/>
          <p:cNvSpPr/>
          <p:nvPr/>
        </p:nvSpPr>
        <p:spPr>
          <a:xfrm rot="17520">
            <a:off x="1676305" y="5591175"/>
            <a:ext cx="14935390" cy="0"/>
          </a:xfrm>
          <a:prstGeom prst="line">
            <a:avLst/>
          </a:prstGeom>
          <a:ln cap="rnd" w="57150">
            <a:solidFill>
              <a:srgbClr val="10242B"/>
            </a:solidFill>
            <a:prstDash val="solid"/>
            <a:headEnd type="none" len="sm" w="sm"/>
            <a:tailEnd type="none" len="sm" w="sm"/>
          </a:ln>
        </p:spPr>
      </p:sp>
      <p:grpSp>
        <p:nvGrpSpPr>
          <p:cNvPr name="Group 4" id="4"/>
          <p:cNvGrpSpPr/>
          <p:nvPr/>
        </p:nvGrpSpPr>
        <p:grpSpPr>
          <a:xfrm rot="0">
            <a:off x="1504950" y="5410200"/>
            <a:ext cx="419100" cy="419100"/>
            <a:chOff x="0" y="0"/>
            <a:chExt cx="558800" cy="558800"/>
          </a:xfrm>
        </p:grpSpPr>
        <p:sp>
          <p:nvSpPr>
            <p:cNvPr name="Freeform 5" id="5"/>
            <p:cNvSpPr/>
            <p:nvPr/>
          </p:nvSpPr>
          <p:spPr>
            <a:xfrm flipH="false" flipV="false" rot="0">
              <a:off x="0" y="0"/>
              <a:ext cx="558800" cy="558800"/>
            </a:xfrm>
            <a:custGeom>
              <a:avLst/>
              <a:gdLst/>
              <a:ahLst/>
              <a:cxnLst/>
              <a:rect r="r" b="b" t="t" l="l"/>
              <a:pathLst>
                <a:path h="558800" w="558800">
                  <a:moveTo>
                    <a:pt x="279400" y="0"/>
                  </a:moveTo>
                  <a:cubicBezTo>
                    <a:pt x="433705" y="0"/>
                    <a:pt x="558800" y="125095"/>
                    <a:pt x="558800" y="279400"/>
                  </a:cubicBezTo>
                  <a:cubicBezTo>
                    <a:pt x="558800" y="433705"/>
                    <a:pt x="433705" y="558800"/>
                    <a:pt x="279400" y="558800"/>
                  </a:cubicBezTo>
                  <a:cubicBezTo>
                    <a:pt x="125095" y="558800"/>
                    <a:pt x="0" y="433705"/>
                    <a:pt x="0" y="279400"/>
                  </a:cubicBezTo>
                  <a:cubicBezTo>
                    <a:pt x="0" y="125095"/>
                    <a:pt x="125095" y="0"/>
                    <a:pt x="279400" y="0"/>
                  </a:cubicBezTo>
                  <a:close/>
                </a:path>
              </a:pathLst>
            </a:custGeom>
            <a:solidFill>
              <a:srgbClr val="B8E34A"/>
            </a:solidFill>
          </p:spPr>
        </p:sp>
      </p:grpSp>
      <p:grpSp>
        <p:nvGrpSpPr>
          <p:cNvPr name="Group 6" id="6"/>
          <p:cNvGrpSpPr/>
          <p:nvPr/>
        </p:nvGrpSpPr>
        <p:grpSpPr>
          <a:xfrm rot="0">
            <a:off x="6267450" y="5410200"/>
            <a:ext cx="419100" cy="419100"/>
            <a:chOff x="0" y="0"/>
            <a:chExt cx="558800" cy="558800"/>
          </a:xfrm>
        </p:grpSpPr>
        <p:sp>
          <p:nvSpPr>
            <p:cNvPr name="Freeform 7" id="7"/>
            <p:cNvSpPr/>
            <p:nvPr/>
          </p:nvSpPr>
          <p:spPr>
            <a:xfrm flipH="false" flipV="false" rot="0">
              <a:off x="0" y="0"/>
              <a:ext cx="558800" cy="558800"/>
            </a:xfrm>
            <a:custGeom>
              <a:avLst/>
              <a:gdLst/>
              <a:ahLst/>
              <a:cxnLst/>
              <a:rect r="r" b="b" t="t" l="l"/>
              <a:pathLst>
                <a:path h="558800" w="558800">
                  <a:moveTo>
                    <a:pt x="279400" y="0"/>
                  </a:moveTo>
                  <a:cubicBezTo>
                    <a:pt x="433705" y="0"/>
                    <a:pt x="558800" y="125095"/>
                    <a:pt x="558800" y="279400"/>
                  </a:cubicBezTo>
                  <a:cubicBezTo>
                    <a:pt x="558800" y="433705"/>
                    <a:pt x="433705" y="558800"/>
                    <a:pt x="279400" y="558800"/>
                  </a:cubicBezTo>
                  <a:cubicBezTo>
                    <a:pt x="125095" y="558800"/>
                    <a:pt x="0" y="433705"/>
                    <a:pt x="0" y="279400"/>
                  </a:cubicBezTo>
                  <a:cubicBezTo>
                    <a:pt x="0" y="125095"/>
                    <a:pt x="125095" y="0"/>
                    <a:pt x="279400" y="0"/>
                  </a:cubicBezTo>
                  <a:close/>
                </a:path>
              </a:pathLst>
            </a:custGeom>
            <a:solidFill>
              <a:srgbClr val="B8E34A"/>
            </a:solidFill>
          </p:spPr>
        </p:sp>
      </p:grpSp>
      <p:grpSp>
        <p:nvGrpSpPr>
          <p:cNvPr name="Group 8" id="8"/>
          <p:cNvGrpSpPr/>
          <p:nvPr/>
        </p:nvGrpSpPr>
        <p:grpSpPr>
          <a:xfrm rot="0">
            <a:off x="11029950" y="5410200"/>
            <a:ext cx="419100" cy="419100"/>
            <a:chOff x="0" y="0"/>
            <a:chExt cx="558800" cy="558800"/>
          </a:xfrm>
        </p:grpSpPr>
        <p:sp>
          <p:nvSpPr>
            <p:cNvPr name="Freeform 9" id="9"/>
            <p:cNvSpPr/>
            <p:nvPr/>
          </p:nvSpPr>
          <p:spPr>
            <a:xfrm flipH="false" flipV="false" rot="0">
              <a:off x="0" y="0"/>
              <a:ext cx="558800" cy="558800"/>
            </a:xfrm>
            <a:custGeom>
              <a:avLst/>
              <a:gdLst/>
              <a:ahLst/>
              <a:cxnLst/>
              <a:rect r="r" b="b" t="t" l="l"/>
              <a:pathLst>
                <a:path h="558800" w="558800">
                  <a:moveTo>
                    <a:pt x="279400" y="0"/>
                  </a:moveTo>
                  <a:cubicBezTo>
                    <a:pt x="433705" y="0"/>
                    <a:pt x="558800" y="125095"/>
                    <a:pt x="558800" y="279400"/>
                  </a:cubicBezTo>
                  <a:cubicBezTo>
                    <a:pt x="558800" y="433705"/>
                    <a:pt x="433705" y="558800"/>
                    <a:pt x="279400" y="558800"/>
                  </a:cubicBezTo>
                  <a:cubicBezTo>
                    <a:pt x="125095" y="558800"/>
                    <a:pt x="0" y="433705"/>
                    <a:pt x="0" y="279400"/>
                  </a:cubicBezTo>
                  <a:cubicBezTo>
                    <a:pt x="0" y="125095"/>
                    <a:pt x="125095" y="0"/>
                    <a:pt x="279400" y="0"/>
                  </a:cubicBezTo>
                  <a:close/>
                </a:path>
              </a:pathLst>
            </a:custGeom>
            <a:solidFill>
              <a:srgbClr val="B8E34A"/>
            </a:solidFill>
          </p:spPr>
        </p:sp>
      </p:grpSp>
      <p:grpSp>
        <p:nvGrpSpPr>
          <p:cNvPr name="Group 10" id="10"/>
          <p:cNvGrpSpPr/>
          <p:nvPr/>
        </p:nvGrpSpPr>
        <p:grpSpPr>
          <a:xfrm rot="0">
            <a:off x="15792450" y="5410200"/>
            <a:ext cx="419100" cy="419100"/>
            <a:chOff x="0" y="0"/>
            <a:chExt cx="558800" cy="558800"/>
          </a:xfrm>
        </p:grpSpPr>
        <p:sp>
          <p:nvSpPr>
            <p:cNvPr name="Freeform 11" id="11"/>
            <p:cNvSpPr/>
            <p:nvPr/>
          </p:nvSpPr>
          <p:spPr>
            <a:xfrm flipH="false" flipV="false" rot="0">
              <a:off x="0" y="0"/>
              <a:ext cx="558800" cy="558800"/>
            </a:xfrm>
            <a:custGeom>
              <a:avLst/>
              <a:gdLst/>
              <a:ahLst/>
              <a:cxnLst/>
              <a:rect r="r" b="b" t="t" l="l"/>
              <a:pathLst>
                <a:path h="558800" w="558800">
                  <a:moveTo>
                    <a:pt x="279400" y="0"/>
                  </a:moveTo>
                  <a:cubicBezTo>
                    <a:pt x="433705" y="0"/>
                    <a:pt x="558800" y="125095"/>
                    <a:pt x="558800" y="279400"/>
                  </a:cubicBezTo>
                  <a:cubicBezTo>
                    <a:pt x="558800" y="433705"/>
                    <a:pt x="433705" y="558800"/>
                    <a:pt x="279400" y="558800"/>
                  </a:cubicBezTo>
                  <a:cubicBezTo>
                    <a:pt x="125095" y="558800"/>
                    <a:pt x="0" y="433705"/>
                    <a:pt x="0" y="279400"/>
                  </a:cubicBezTo>
                  <a:cubicBezTo>
                    <a:pt x="0" y="125095"/>
                    <a:pt x="125095" y="0"/>
                    <a:pt x="279400" y="0"/>
                  </a:cubicBezTo>
                  <a:close/>
                </a:path>
              </a:pathLst>
            </a:custGeom>
            <a:solidFill>
              <a:srgbClr val="45C4D6"/>
            </a:solidFill>
          </p:spPr>
        </p:sp>
      </p:grpSp>
      <p:sp>
        <p:nvSpPr>
          <p:cNvPr name="TextBox 12" id="12"/>
          <p:cNvSpPr txBox="true"/>
          <p:nvPr/>
        </p:nvSpPr>
        <p:spPr>
          <a:xfrm rot="0">
            <a:off x="1190625" y="4114800"/>
            <a:ext cx="1333500" cy="357759"/>
          </a:xfrm>
          <a:prstGeom prst="rect">
            <a:avLst/>
          </a:prstGeom>
        </p:spPr>
        <p:txBody>
          <a:bodyPr anchor="t" rtlCol="false" tIns="0" lIns="0" bIns="0" rIns="0">
            <a:spAutoFit/>
          </a:bodyPr>
          <a:lstStyle/>
          <a:p>
            <a:pPr algn="l">
              <a:lnSpc>
                <a:spcPts val="3213"/>
              </a:lnSpc>
            </a:pPr>
            <a:r>
              <a:rPr lang="en-US" sz="3150" b="true">
                <a:solidFill>
                  <a:srgbClr val="10242B"/>
                </a:solidFill>
                <a:latin typeface="League Spartan"/>
                <a:ea typeface="League Spartan"/>
                <a:cs typeface="League Spartan"/>
                <a:sym typeface="League Spartan"/>
              </a:rPr>
              <a:t>Q1</a:t>
            </a:r>
          </a:p>
        </p:txBody>
      </p:sp>
      <p:sp>
        <p:nvSpPr>
          <p:cNvPr name="TextBox 13" id="13"/>
          <p:cNvSpPr txBox="true"/>
          <p:nvPr/>
        </p:nvSpPr>
        <p:spPr>
          <a:xfrm rot="0">
            <a:off x="1190625" y="6229350"/>
            <a:ext cx="3143250" cy="361474"/>
          </a:xfrm>
          <a:prstGeom prst="rect">
            <a:avLst/>
          </a:prstGeom>
        </p:spPr>
        <p:txBody>
          <a:bodyPr anchor="t" rtlCol="false" tIns="0" lIns="0" bIns="0" rIns="0">
            <a:spAutoFit/>
          </a:bodyPr>
          <a:lstStyle/>
          <a:p>
            <a:pPr algn="l">
              <a:lnSpc>
                <a:spcPts val="2733"/>
              </a:lnSpc>
            </a:pPr>
            <a:r>
              <a:rPr lang="en-US" sz="2025">
                <a:solidFill>
                  <a:srgbClr val="10242B"/>
                </a:solidFill>
                <a:latin typeface="DM Sans"/>
                <a:ea typeface="DM Sans"/>
                <a:cs typeface="DM Sans"/>
                <a:sym typeface="DM Sans"/>
              </a:rPr>
              <a:t>Requirements &amp; design</a:t>
            </a:r>
          </a:p>
        </p:txBody>
      </p:sp>
      <p:sp>
        <p:nvSpPr>
          <p:cNvPr name="TextBox 14" id="14"/>
          <p:cNvSpPr txBox="true"/>
          <p:nvPr/>
        </p:nvSpPr>
        <p:spPr>
          <a:xfrm rot="0">
            <a:off x="5953125" y="4114800"/>
            <a:ext cx="1333500" cy="357759"/>
          </a:xfrm>
          <a:prstGeom prst="rect">
            <a:avLst/>
          </a:prstGeom>
        </p:spPr>
        <p:txBody>
          <a:bodyPr anchor="t" rtlCol="false" tIns="0" lIns="0" bIns="0" rIns="0">
            <a:spAutoFit/>
          </a:bodyPr>
          <a:lstStyle/>
          <a:p>
            <a:pPr algn="l">
              <a:lnSpc>
                <a:spcPts val="3213"/>
              </a:lnSpc>
            </a:pPr>
            <a:r>
              <a:rPr lang="en-US" sz="3150" b="true">
                <a:solidFill>
                  <a:srgbClr val="10242B"/>
                </a:solidFill>
                <a:latin typeface="League Spartan"/>
                <a:ea typeface="League Spartan"/>
                <a:cs typeface="League Spartan"/>
                <a:sym typeface="League Spartan"/>
              </a:rPr>
              <a:t>Q2</a:t>
            </a:r>
          </a:p>
        </p:txBody>
      </p:sp>
      <p:sp>
        <p:nvSpPr>
          <p:cNvPr name="TextBox 15" id="15"/>
          <p:cNvSpPr txBox="true"/>
          <p:nvPr/>
        </p:nvSpPr>
        <p:spPr>
          <a:xfrm rot="0">
            <a:off x="5953125" y="6229350"/>
            <a:ext cx="3143250" cy="361474"/>
          </a:xfrm>
          <a:prstGeom prst="rect">
            <a:avLst/>
          </a:prstGeom>
        </p:spPr>
        <p:txBody>
          <a:bodyPr anchor="t" rtlCol="false" tIns="0" lIns="0" bIns="0" rIns="0">
            <a:spAutoFit/>
          </a:bodyPr>
          <a:lstStyle/>
          <a:p>
            <a:pPr algn="l">
              <a:lnSpc>
                <a:spcPts val="2733"/>
              </a:lnSpc>
            </a:pPr>
            <a:r>
              <a:rPr lang="en-US" sz="2025">
                <a:solidFill>
                  <a:srgbClr val="10242B"/>
                </a:solidFill>
                <a:latin typeface="DM Sans"/>
                <a:ea typeface="DM Sans"/>
                <a:cs typeface="DM Sans"/>
                <a:sym typeface="DM Sans"/>
              </a:rPr>
              <a:t>Prototype &amp; initial testing</a:t>
            </a:r>
          </a:p>
        </p:txBody>
      </p:sp>
      <p:sp>
        <p:nvSpPr>
          <p:cNvPr name="TextBox 16" id="16"/>
          <p:cNvSpPr txBox="true"/>
          <p:nvPr/>
        </p:nvSpPr>
        <p:spPr>
          <a:xfrm rot="0">
            <a:off x="10715625" y="4114800"/>
            <a:ext cx="1333500" cy="357759"/>
          </a:xfrm>
          <a:prstGeom prst="rect">
            <a:avLst/>
          </a:prstGeom>
        </p:spPr>
        <p:txBody>
          <a:bodyPr anchor="t" rtlCol="false" tIns="0" lIns="0" bIns="0" rIns="0">
            <a:spAutoFit/>
          </a:bodyPr>
          <a:lstStyle/>
          <a:p>
            <a:pPr algn="l">
              <a:lnSpc>
                <a:spcPts val="3213"/>
              </a:lnSpc>
            </a:pPr>
            <a:r>
              <a:rPr lang="en-US" sz="3150" b="true">
                <a:solidFill>
                  <a:srgbClr val="10242B"/>
                </a:solidFill>
                <a:latin typeface="League Spartan"/>
                <a:ea typeface="League Spartan"/>
                <a:cs typeface="League Spartan"/>
                <a:sym typeface="League Spartan"/>
              </a:rPr>
              <a:t>Q3</a:t>
            </a:r>
          </a:p>
        </p:txBody>
      </p:sp>
      <p:sp>
        <p:nvSpPr>
          <p:cNvPr name="TextBox 17" id="17"/>
          <p:cNvSpPr txBox="true"/>
          <p:nvPr/>
        </p:nvSpPr>
        <p:spPr>
          <a:xfrm rot="0">
            <a:off x="10715625" y="6229350"/>
            <a:ext cx="3143250" cy="361474"/>
          </a:xfrm>
          <a:prstGeom prst="rect">
            <a:avLst/>
          </a:prstGeom>
        </p:spPr>
        <p:txBody>
          <a:bodyPr anchor="t" rtlCol="false" tIns="0" lIns="0" bIns="0" rIns="0">
            <a:spAutoFit/>
          </a:bodyPr>
          <a:lstStyle/>
          <a:p>
            <a:pPr algn="l">
              <a:lnSpc>
                <a:spcPts val="2733"/>
              </a:lnSpc>
            </a:pPr>
            <a:r>
              <a:rPr lang="en-US" sz="2025">
                <a:solidFill>
                  <a:srgbClr val="10242B"/>
                </a:solidFill>
                <a:latin typeface="DM Sans"/>
                <a:ea typeface="DM Sans"/>
                <a:cs typeface="DM Sans"/>
                <a:sym typeface="DM Sans"/>
              </a:rPr>
              <a:t>Pilot in selected regions</a:t>
            </a:r>
          </a:p>
        </p:txBody>
      </p:sp>
      <p:sp>
        <p:nvSpPr>
          <p:cNvPr name="TextBox 18" id="18"/>
          <p:cNvSpPr txBox="true"/>
          <p:nvPr/>
        </p:nvSpPr>
        <p:spPr>
          <a:xfrm rot="0">
            <a:off x="15478125" y="4114800"/>
            <a:ext cx="1333500" cy="357759"/>
          </a:xfrm>
          <a:prstGeom prst="rect">
            <a:avLst/>
          </a:prstGeom>
        </p:spPr>
        <p:txBody>
          <a:bodyPr anchor="t" rtlCol="false" tIns="0" lIns="0" bIns="0" rIns="0">
            <a:spAutoFit/>
          </a:bodyPr>
          <a:lstStyle/>
          <a:p>
            <a:pPr algn="l">
              <a:lnSpc>
                <a:spcPts val="3213"/>
              </a:lnSpc>
            </a:pPr>
            <a:r>
              <a:rPr lang="en-US" sz="3150" b="true">
                <a:solidFill>
                  <a:srgbClr val="10242B"/>
                </a:solidFill>
                <a:latin typeface="League Spartan"/>
                <a:ea typeface="League Spartan"/>
                <a:cs typeface="League Spartan"/>
                <a:sym typeface="League Spartan"/>
              </a:rPr>
              <a:t>Q4</a:t>
            </a:r>
          </a:p>
        </p:txBody>
      </p:sp>
      <p:sp>
        <p:nvSpPr>
          <p:cNvPr name="TextBox 19" id="19"/>
          <p:cNvSpPr txBox="true"/>
          <p:nvPr/>
        </p:nvSpPr>
        <p:spPr>
          <a:xfrm rot="0">
            <a:off x="15478125" y="6229350"/>
            <a:ext cx="3143250" cy="704374"/>
          </a:xfrm>
          <a:prstGeom prst="rect">
            <a:avLst/>
          </a:prstGeom>
        </p:spPr>
        <p:txBody>
          <a:bodyPr anchor="t" rtlCol="false" tIns="0" lIns="0" bIns="0" rIns="0">
            <a:spAutoFit/>
          </a:bodyPr>
          <a:lstStyle/>
          <a:p>
            <a:pPr algn="l">
              <a:lnSpc>
                <a:spcPts val="2733"/>
              </a:lnSpc>
            </a:pPr>
            <a:r>
              <a:rPr lang="en-US" sz="2025">
                <a:solidFill>
                  <a:srgbClr val="10242B"/>
                </a:solidFill>
                <a:latin typeface="DM Sans"/>
                <a:ea typeface="DM Sans"/>
                <a:cs typeface="DM Sans"/>
                <a:sym typeface="DM Sans"/>
              </a:rPr>
              <a:t>Full rollout &amp; operator training</a:t>
            </a:r>
          </a:p>
        </p:txBody>
      </p:sp>
      <p:sp>
        <p:nvSpPr>
          <p:cNvPr name="TextBox 20" id="20"/>
          <p:cNvSpPr txBox="true"/>
          <p:nvPr/>
        </p:nvSpPr>
        <p:spPr>
          <a:xfrm rot="0">
            <a:off x="872547" y="596646"/>
            <a:ext cx="12382500" cy="806577"/>
          </a:xfrm>
          <a:prstGeom prst="rect">
            <a:avLst/>
          </a:prstGeom>
        </p:spPr>
        <p:txBody>
          <a:bodyPr anchor="t" rtlCol="false" tIns="0" lIns="0" bIns="0" rIns="0">
            <a:spAutoFit/>
          </a:bodyPr>
          <a:lstStyle/>
          <a:p>
            <a:pPr algn="l">
              <a:lnSpc>
                <a:spcPts val="5814"/>
              </a:lnSpc>
            </a:pPr>
            <a:r>
              <a:rPr lang="en-US" sz="5700" b="true">
                <a:solidFill>
                  <a:srgbClr val="10242B"/>
                </a:solidFill>
                <a:latin typeface="Poppins Bold"/>
                <a:ea typeface="Poppins Bold"/>
                <a:cs typeface="Poppins Bold"/>
                <a:sym typeface="Poppins Bold"/>
              </a:rPr>
              <a:t>ROADMAP/TIMELINE:</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71A24"/>
        </a:solidFill>
      </p:bgPr>
    </p:bg>
    <p:spTree>
      <p:nvGrpSpPr>
        <p:cNvPr id="1" name=""/>
        <p:cNvGrpSpPr/>
        <p:nvPr/>
      </p:nvGrpSpPr>
      <p:grpSpPr>
        <a:xfrm>
          <a:off x="0" y="0"/>
          <a:ext cx="0" cy="0"/>
          <a:chOff x="0" y="0"/>
          <a:chExt cx="0" cy="0"/>
        </a:xfrm>
      </p:grpSpPr>
      <p:sp>
        <p:nvSpPr>
          <p:cNvPr name="Freeform 2" id="2"/>
          <p:cNvSpPr/>
          <p:nvPr/>
        </p:nvSpPr>
        <p:spPr>
          <a:xfrm flipH="false" flipV="false" rot="0">
            <a:off x="13620750" y="1400175"/>
            <a:ext cx="1143000" cy="1171575"/>
          </a:xfrm>
          <a:custGeom>
            <a:avLst/>
            <a:gdLst/>
            <a:ahLst/>
            <a:cxnLst/>
            <a:rect r="r" b="b" t="t" l="l"/>
            <a:pathLst>
              <a:path h="1171575" w="1143000">
                <a:moveTo>
                  <a:pt x="0" y="0"/>
                </a:moveTo>
                <a:lnTo>
                  <a:pt x="1143000" y="0"/>
                </a:lnTo>
                <a:lnTo>
                  <a:pt x="1143000" y="1171575"/>
                </a:lnTo>
                <a:lnTo>
                  <a:pt x="0" y="11715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049500" y="1400175"/>
            <a:ext cx="1143000" cy="1171575"/>
          </a:xfrm>
          <a:custGeom>
            <a:avLst/>
            <a:gdLst/>
            <a:ahLst/>
            <a:cxnLst/>
            <a:rect r="r" b="b" t="t" l="l"/>
            <a:pathLst>
              <a:path h="1171575" w="1143000">
                <a:moveTo>
                  <a:pt x="0" y="0"/>
                </a:moveTo>
                <a:lnTo>
                  <a:pt x="1143000" y="0"/>
                </a:lnTo>
                <a:lnTo>
                  <a:pt x="1143000" y="1171575"/>
                </a:lnTo>
                <a:lnTo>
                  <a:pt x="0" y="11715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47750" y="7305675"/>
            <a:ext cx="14763750" cy="66675"/>
          </a:xfrm>
          <a:custGeom>
            <a:avLst/>
            <a:gdLst/>
            <a:ahLst/>
            <a:cxnLst/>
            <a:rect r="r" b="b" t="t" l="l"/>
            <a:pathLst>
              <a:path h="66675" w="14763750">
                <a:moveTo>
                  <a:pt x="0" y="0"/>
                </a:moveTo>
                <a:lnTo>
                  <a:pt x="14763750" y="0"/>
                </a:lnTo>
                <a:lnTo>
                  <a:pt x="14763750" y="66675"/>
                </a:lnTo>
                <a:lnTo>
                  <a:pt x="0" y="6667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1047750" y="1771650"/>
            <a:ext cx="10477500" cy="1249680"/>
          </a:xfrm>
          <a:prstGeom prst="rect">
            <a:avLst/>
          </a:prstGeom>
        </p:spPr>
        <p:txBody>
          <a:bodyPr anchor="t" rtlCol="false" tIns="0" lIns="0" bIns="0" rIns="0">
            <a:spAutoFit/>
          </a:bodyPr>
          <a:lstStyle/>
          <a:p>
            <a:pPr algn="l">
              <a:lnSpc>
                <a:spcPts val="10710"/>
              </a:lnSpc>
            </a:pPr>
            <a:r>
              <a:rPr lang="en-US" sz="10500" b="true">
                <a:solidFill>
                  <a:srgbClr val="FFFFFF"/>
                </a:solidFill>
                <a:latin typeface="League Spartan"/>
                <a:ea typeface="League Spartan"/>
                <a:cs typeface="League Spartan"/>
                <a:sym typeface="League Spartan"/>
              </a:rPr>
              <a:t>THANK YOU!</a:t>
            </a:r>
          </a:p>
        </p:txBody>
      </p:sp>
      <p:sp>
        <p:nvSpPr>
          <p:cNvPr name="TextBox 6" id="6"/>
          <p:cNvSpPr txBox="true"/>
          <p:nvPr/>
        </p:nvSpPr>
        <p:spPr>
          <a:xfrm rot="0">
            <a:off x="1047750" y="4686300"/>
            <a:ext cx="11906250" cy="1176338"/>
          </a:xfrm>
          <a:prstGeom prst="rect">
            <a:avLst/>
          </a:prstGeom>
        </p:spPr>
        <p:txBody>
          <a:bodyPr anchor="t" rtlCol="false" tIns="0" lIns="0" bIns="0" rIns="0">
            <a:spAutoFit/>
          </a:bodyPr>
          <a:lstStyle/>
          <a:p>
            <a:pPr algn="l">
              <a:lnSpc>
                <a:spcPts val="3037"/>
              </a:lnSpc>
            </a:pPr>
            <a:r>
              <a:rPr lang="en-US" sz="2250">
                <a:solidFill>
                  <a:srgbClr val="FFFFFF"/>
                </a:solidFill>
                <a:latin typeface="DM Sans"/>
                <a:ea typeface="DM Sans"/>
                <a:cs typeface="DM Sans"/>
                <a:sym typeface="DM Sans"/>
              </a:rPr>
              <a:t>This presentation summarizes the Smartflow project intended for live traffic monitoring and signal control, aiming to enhance urban traffic management through digital innovation.</a:t>
            </a:r>
          </a:p>
        </p:txBody>
      </p:sp>
      <p:sp>
        <p:nvSpPr>
          <p:cNvPr name="TextBox 7" id="7"/>
          <p:cNvSpPr txBox="true"/>
          <p:nvPr/>
        </p:nvSpPr>
        <p:spPr>
          <a:xfrm rot="0">
            <a:off x="1047750" y="7829550"/>
            <a:ext cx="8572500" cy="377190"/>
          </a:xfrm>
          <a:prstGeom prst="rect">
            <a:avLst/>
          </a:prstGeom>
        </p:spPr>
        <p:txBody>
          <a:bodyPr anchor="t" rtlCol="false" tIns="0" lIns="0" bIns="0" rIns="0">
            <a:spAutoFit/>
          </a:bodyPr>
          <a:lstStyle/>
          <a:p>
            <a:pPr algn="l">
              <a:lnSpc>
                <a:spcPts val="2835"/>
              </a:lnSpc>
            </a:pPr>
            <a:r>
              <a:rPr lang="en-US" b="true" sz="2025" spc="243">
                <a:solidFill>
                  <a:srgbClr val="B8E34A"/>
                </a:solidFill>
                <a:latin typeface="DM Sans Bold"/>
                <a:ea typeface="DM Sans Bold"/>
                <a:cs typeface="DM Sans Bold"/>
                <a:sym typeface="DM Sans Bold"/>
              </a:rPr>
              <a:t>SMARTFLOW / LIVE. DECIDE. MOVE.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DAHYIlWs6JE</dc:identifier>
  <dcterms:modified xsi:type="dcterms:W3CDTF">2011-08-01T06:04:30Z</dcterms:modified>
  <cp:revision>1</cp:revision>
  <dc:title>DTIE PPT Smart Traffic Management FINAL (1).pptx</dc:title>
</cp:coreProperties>
</file>